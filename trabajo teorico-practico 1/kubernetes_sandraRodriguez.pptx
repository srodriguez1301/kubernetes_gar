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1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65839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2766706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8621842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5747445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62334445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7155682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662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8007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6488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0A809C-99F6-9D68-29B1-E556A2EFDA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6125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722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59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898EA-7B41-AE9B-DB96-A0430325AD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6634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5418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10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C1BF0B-36E7-630B-704A-0DC3E3BB231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5671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6399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670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07F9E-4763-29CA-8F4B-95F6A0DF2C0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14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2534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869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BDFE49-60F7-8743-E869-18048E0559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405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501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1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7DCAA5-4CB3-3D5E-A480-9D66C4C66A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49346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067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2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D684DF-E93D-BF17-B368-6B357B0EA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23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24982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35775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524F-C479-91C5-0D52-A170F6D782F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7453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979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923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D43FA4-B745-2A0C-DCB2-BBE733737F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8231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3092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146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9FC166-FF32-AF8C-8CC8-08D2F35D4E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4614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91060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984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581AA-0867-AE5E-8270-987AD12A10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112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222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663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539078-093C-F707-DC11-3475F48EE5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8775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7953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264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BB1B29-2AA4-3C05-5B2C-3B9C222543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909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1267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26646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D912A4-44DD-1BEF-33CD-01588414A6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1160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3150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5548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854A1-21AB-01BB-7FA0-DCB084D193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14817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3483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8307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A31404-55F6-77EA-CE40-93C81D99AC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92615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3487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19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803AEC-DDB3-CAF0-6FB4-A68F9C155D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413383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216146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12968047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821782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232597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6670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007297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921245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33764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25404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487611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76796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1742143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50519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61722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624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831265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33132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05533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4493875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181539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9896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827932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700994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300333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4812073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069295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0874472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7544764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81642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67025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065199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577610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00155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8235569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1470548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173191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24699104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729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671873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0168759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857662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183394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41663710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755942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059770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6712652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700484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43286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4984666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512760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504097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13512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62346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5997226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7478972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404126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9651040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17153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87546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1261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412884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2824084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2Hftl7VS8PU" TargetMode="External"/><Relationship Id="rId5" Type="http://schemas.openxmlformats.org/officeDocument/2006/relationships/hyperlink" Target="https://www.youtube.com/watch?v=i-cvhgyXi5A" TargetMode="External"/><Relationship Id="rId6" Type="http://schemas.openxmlformats.org/officeDocument/2006/relationships/hyperlink" Target="https://ualmtorres.github.io/Kubernetes101/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349333" name="Freeform 2"/>
          <p:cNvSpPr/>
          <p:nvPr/>
        </p:nvSpPr>
        <p:spPr bwMode="auto">
          <a:xfrm rot="0" flipH="0" flipV="0">
            <a:off x="0" y="3904848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 fill="norm" stroke="1" extrusionOk="0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915207325" name="TextBox 3"/>
          <p:cNvSpPr txBox="1"/>
          <p:nvPr/>
        </p:nvSpPr>
        <p:spPr bwMode="auto">
          <a:xfrm rot="0">
            <a:off x="4984416" y="1404407"/>
            <a:ext cx="8319525" cy="48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9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85873578" name="Freeform 4"/>
          <p:cNvSpPr/>
          <p:nvPr/>
        </p:nvSpPr>
        <p:spPr bwMode="auto">
          <a:xfrm rot="0" flipH="1" flipV="1">
            <a:off x="12708935" y="0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 fill="norm" stroke="1" extrusionOk="0">
                <a:moveTo>
                  <a:pt x="5579065" y="6382152"/>
                </a:moveTo>
                <a:lnTo>
                  <a:pt x="0" y="6382152"/>
                </a:lnTo>
                <a:lnTo>
                  <a:pt x="0" y="0"/>
                </a:lnTo>
                <a:lnTo>
                  <a:pt x="5579065" y="0"/>
                </a:lnTo>
                <a:lnTo>
                  <a:pt x="5579065" y="6382152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659692820" name="Freeform 5"/>
          <p:cNvSpPr/>
          <p:nvPr/>
        </p:nvSpPr>
        <p:spPr bwMode="auto">
          <a:xfrm rot="5400000" flipH="0" flipV="0">
            <a:off x="-301030" y="301030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 fill="norm" stroke="1" extrusionOk="0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759334064" name="Freeform 6"/>
          <p:cNvSpPr/>
          <p:nvPr/>
        </p:nvSpPr>
        <p:spPr bwMode="auto">
          <a:xfrm rot="5400000" flipH="1" flipV="1">
            <a:off x="10820522" y="2819522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 fill="norm" stroke="1" extrusionOk="0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75459857" name="TextBox 7"/>
          <p:cNvSpPr txBox="1"/>
          <p:nvPr/>
        </p:nvSpPr>
        <p:spPr bwMode="auto">
          <a:xfrm rot="0">
            <a:off x="2002980" y="4155907"/>
            <a:ext cx="14493363" cy="2027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63"/>
              </a:lnSpc>
              <a:defRPr/>
            </a:pPr>
            <a:r>
              <a:rPr lang="es-ES" sz="160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KUBERNETES</a:t>
            </a:r>
            <a:endParaRPr/>
          </a:p>
        </p:txBody>
      </p:sp>
      <p:sp>
        <p:nvSpPr>
          <p:cNvPr id="384837303" name="TextBox 8"/>
          <p:cNvSpPr txBox="1"/>
          <p:nvPr/>
        </p:nvSpPr>
        <p:spPr bwMode="auto">
          <a:xfrm rot="0">
            <a:off x="4303976" y="7659990"/>
            <a:ext cx="9495360" cy="675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19"/>
              </a:lnSpc>
              <a:spcBef>
                <a:spcPts val="0"/>
              </a:spcBef>
              <a:defRPr/>
            </a:pPr>
            <a:r>
              <a:rPr lang="es-ES" sz="38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Sandra Rodríguez Sánchez-Gil</a:t>
            </a:r>
            <a:r>
              <a:rPr lang="en-US" sz="38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 </a:t>
            </a:r>
            <a:endParaRPr/>
          </a:p>
        </p:txBody>
      </p:sp>
      <p:sp>
        <p:nvSpPr>
          <p:cNvPr id="1647564144" name="TextBox 9"/>
          <p:cNvSpPr txBox="1"/>
          <p:nvPr/>
        </p:nvSpPr>
        <p:spPr bwMode="auto">
          <a:xfrm rot="0">
            <a:off x="5145436" y="8335863"/>
            <a:ext cx="7997485" cy="480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79"/>
              </a:lnSpc>
              <a:spcBef>
                <a:spcPts val="0"/>
              </a:spcBef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5878083" name="Freeform 2"/>
          <p:cNvSpPr/>
          <p:nvPr/>
        </p:nvSpPr>
        <p:spPr bwMode="auto">
          <a:xfrm rot="5400000" flipH="0" flipV="0">
            <a:off x="-572941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 fill="norm" stroke="1" extrusionOk="0">
                <a:moveTo>
                  <a:pt x="0" y="0"/>
                </a:moveTo>
                <a:lnTo>
                  <a:pt x="13516228" y="0"/>
                </a:lnTo>
                <a:lnTo>
                  <a:pt x="13516228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214099" r="0" b="0"/>
            </a:stretch>
          </a:blipFill>
        </p:spPr>
      </p:sp>
      <p:sp>
        <p:nvSpPr>
          <p:cNvPr id="1320806411" name="Freeform 3"/>
          <p:cNvSpPr/>
          <p:nvPr/>
        </p:nvSpPr>
        <p:spPr bwMode="auto"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 fill="norm" stroke="1" extrusionOk="0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 rotWithShape="1">
            <a:blip r:embed="rId3"/>
            <a:stretch>
              <a:fillRect l="0" t="-214099" r="0" b="0"/>
            </a:stretch>
          </a:blipFill>
        </p:spPr>
      </p:sp>
      <p:sp>
        <p:nvSpPr>
          <p:cNvPr id="1284642190" name="TextBox 4"/>
          <p:cNvSpPr txBox="1"/>
          <p:nvPr/>
        </p:nvSpPr>
        <p:spPr bwMode="auto">
          <a:xfrm rot="0" flipH="0" flipV="0">
            <a:off x="6531433" y="519930"/>
            <a:ext cx="5481244" cy="340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95"/>
              </a:lnSpc>
              <a:defRPr/>
            </a:pPr>
            <a:endParaRPr lang="es-ES" sz="12000" b="1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algn="ctr">
              <a:lnSpc>
                <a:spcPts val="6696"/>
              </a:lnSpc>
              <a:defRPr/>
            </a:pPr>
            <a:r>
              <a:rPr lang="en-US" sz="120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Í</a:t>
            </a:r>
            <a:r>
              <a:rPr lang="es-ES" sz="120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NDICE</a:t>
            </a:r>
            <a:endParaRPr lang="es-ES" sz="12000" b="1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algn="ctr">
              <a:lnSpc>
                <a:spcPts val="6695"/>
              </a:lnSpc>
              <a:defRPr/>
            </a:pPr>
            <a:endParaRPr/>
          </a:p>
          <a:p>
            <a:pPr algn="ctr">
              <a:lnSpc>
                <a:spcPts val="6695"/>
              </a:lnSpc>
              <a:defRPr/>
            </a:pPr>
            <a:endParaRPr/>
          </a:p>
        </p:txBody>
      </p:sp>
      <p:sp>
        <p:nvSpPr>
          <p:cNvPr id="1019725635" name="Freeform 3"/>
          <p:cNvSpPr/>
          <p:nvPr/>
        </p:nvSpPr>
        <p:spPr bwMode="auto">
          <a:xfrm rot="0" flipH="0" flipV="0">
            <a:off x="5090920" y="2717928"/>
            <a:ext cx="8622631" cy="1021090"/>
          </a:xfrm>
          <a:custGeom>
            <a:avLst/>
            <a:gdLst/>
            <a:ahLst/>
            <a:cxnLst/>
            <a:rect l="l" t="t" r="r" b="b"/>
            <a:pathLst>
              <a:path w="4090991" h="533826" fill="norm" stroke="1" extrusionOk="0">
                <a:moveTo>
                  <a:pt x="19438" y="0"/>
                </a:moveTo>
                <a:lnTo>
                  <a:pt x="4071552" y="0"/>
                </a:lnTo>
                <a:cubicBezTo>
                  <a:pt x="4082288" y="0"/>
                  <a:pt x="4090991" y="8703"/>
                  <a:pt x="4090991" y="19438"/>
                </a:cubicBezTo>
                <a:lnTo>
                  <a:pt x="4090991" y="514387"/>
                </a:lnTo>
                <a:cubicBezTo>
                  <a:pt x="4090991" y="525123"/>
                  <a:pt x="4082288" y="533826"/>
                  <a:pt x="4071552" y="533826"/>
                </a:cubicBezTo>
                <a:lnTo>
                  <a:pt x="19438" y="533826"/>
                </a:lnTo>
                <a:cubicBezTo>
                  <a:pt x="8703" y="533826"/>
                  <a:pt x="0" y="525123"/>
                  <a:pt x="0" y="514387"/>
                </a:cubicBezTo>
                <a:lnTo>
                  <a:pt x="0" y="19438"/>
                </a:lnTo>
                <a:cubicBezTo>
                  <a:pt x="0" y="8703"/>
                  <a:pt x="8703" y="0"/>
                  <a:pt x="19438" y="0"/>
                </a:cubicBezTo>
                <a:close/>
              </a:path>
            </a:pathLst>
          </a:custGeom>
          <a:solidFill>
            <a:srgbClr val="D8F0FC"/>
          </a:solidFill>
        </p:spPr>
        <p:txBody>
          <a:bodyPr anchor="ctr"/>
          <a:p>
            <a:pPr marL="878655" indent="-878655" algn="ctr">
              <a:buAutoNum type="arabicPeriod"/>
              <a:defRPr/>
            </a:pPr>
            <a:r>
              <a:rPr lang="es-ES" sz="7200"/>
              <a:t>Introducción</a:t>
            </a:r>
            <a:endParaRPr/>
          </a:p>
        </p:txBody>
      </p:sp>
      <p:sp>
        <p:nvSpPr>
          <p:cNvPr id="1964524852" name="Freeform 3"/>
          <p:cNvSpPr/>
          <p:nvPr/>
        </p:nvSpPr>
        <p:spPr bwMode="auto">
          <a:xfrm rot="0" flipH="0" flipV="0">
            <a:off x="5015722" y="4322935"/>
            <a:ext cx="8622630" cy="1021089"/>
          </a:xfrm>
          <a:custGeom>
            <a:avLst/>
            <a:gdLst/>
            <a:ahLst/>
            <a:cxnLst/>
            <a:rect l="l" t="t" r="r" b="b"/>
            <a:pathLst>
              <a:path w="4090991" h="533826" fill="norm" stroke="1" extrusionOk="0">
                <a:moveTo>
                  <a:pt x="19438" y="0"/>
                </a:moveTo>
                <a:lnTo>
                  <a:pt x="4071552" y="0"/>
                </a:lnTo>
                <a:cubicBezTo>
                  <a:pt x="4082288" y="0"/>
                  <a:pt x="4090991" y="8703"/>
                  <a:pt x="4090991" y="19438"/>
                </a:cubicBezTo>
                <a:lnTo>
                  <a:pt x="4090991" y="514387"/>
                </a:lnTo>
                <a:cubicBezTo>
                  <a:pt x="4090991" y="525123"/>
                  <a:pt x="4082288" y="533826"/>
                  <a:pt x="4071552" y="533826"/>
                </a:cubicBezTo>
                <a:lnTo>
                  <a:pt x="19438" y="533826"/>
                </a:lnTo>
                <a:cubicBezTo>
                  <a:pt x="8703" y="533826"/>
                  <a:pt x="0" y="525123"/>
                  <a:pt x="0" y="514387"/>
                </a:cubicBezTo>
                <a:lnTo>
                  <a:pt x="0" y="19438"/>
                </a:lnTo>
                <a:cubicBezTo>
                  <a:pt x="0" y="8703"/>
                  <a:pt x="8703" y="0"/>
                  <a:pt x="19438" y="0"/>
                </a:cubicBezTo>
                <a:close/>
              </a:path>
            </a:pathLst>
          </a:custGeom>
          <a:solidFill>
            <a:srgbClr val="D8F0FC"/>
          </a:solidFill>
        </p:spPr>
        <p:txBody>
          <a:bodyPr anchor="ctr"/>
          <a:p>
            <a:pPr algn="ctr">
              <a:defRPr/>
            </a:pPr>
            <a:r>
              <a:rPr lang="es-ES" sz="7200"/>
              <a:t>2. Arquitectura</a:t>
            </a:r>
            <a:endParaRPr/>
          </a:p>
        </p:txBody>
      </p:sp>
      <p:sp>
        <p:nvSpPr>
          <p:cNvPr id="33511054" name="Freeform 3"/>
          <p:cNvSpPr/>
          <p:nvPr/>
        </p:nvSpPr>
        <p:spPr bwMode="auto">
          <a:xfrm rot="0" flipH="0" flipV="0">
            <a:off x="5015722" y="5949203"/>
            <a:ext cx="8622630" cy="1021089"/>
          </a:xfrm>
          <a:custGeom>
            <a:avLst/>
            <a:gdLst/>
            <a:ahLst/>
            <a:cxnLst/>
            <a:rect l="l" t="t" r="r" b="b"/>
            <a:pathLst>
              <a:path w="4090991" h="533826" fill="norm" stroke="1" extrusionOk="0">
                <a:moveTo>
                  <a:pt x="19438" y="0"/>
                </a:moveTo>
                <a:lnTo>
                  <a:pt x="4071552" y="0"/>
                </a:lnTo>
                <a:cubicBezTo>
                  <a:pt x="4082288" y="0"/>
                  <a:pt x="4090991" y="8703"/>
                  <a:pt x="4090991" y="19438"/>
                </a:cubicBezTo>
                <a:lnTo>
                  <a:pt x="4090991" y="514387"/>
                </a:lnTo>
                <a:cubicBezTo>
                  <a:pt x="4090991" y="525123"/>
                  <a:pt x="4082288" y="533826"/>
                  <a:pt x="4071552" y="533826"/>
                </a:cubicBezTo>
                <a:lnTo>
                  <a:pt x="19438" y="533826"/>
                </a:lnTo>
                <a:cubicBezTo>
                  <a:pt x="8703" y="533826"/>
                  <a:pt x="0" y="525123"/>
                  <a:pt x="0" y="514387"/>
                </a:cubicBezTo>
                <a:lnTo>
                  <a:pt x="0" y="19438"/>
                </a:lnTo>
                <a:cubicBezTo>
                  <a:pt x="0" y="8703"/>
                  <a:pt x="8703" y="0"/>
                  <a:pt x="19438" y="0"/>
                </a:cubicBezTo>
                <a:close/>
              </a:path>
            </a:pathLst>
          </a:custGeom>
          <a:solidFill>
            <a:srgbClr val="D8F0FC"/>
          </a:solidFill>
        </p:spPr>
        <p:txBody>
          <a:bodyPr anchor="ctr"/>
          <a:p>
            <a:pPr algn="ctr">
              <a:defRPr/>
            </a:pPr>
            <a:r>
              <a:rPr lang="es-ES" sz="7200"/>
              <a:t>3. Demo</a:t>
            </a:r>
            <a:endParaRPr/>
          </a:p>
        </p:txBody>
      </p:sp>
      <p:sp>
        <p:nvSpPr>
          <p:cNvPr id="492472446" name="Freeform 3"/>
          <p:cNvSpPr/>
          <p:nvPr/>
        </p:nvSpPr>
        <p:spPr bwMode="auto">
          <a:xfrm rot="0" flipH="0" flipV="0">
            <a:off x="5090920" y="7503282"/>
            <a:ext cx="8622630" cy="1021089"/>
          </a:xfrm>
          <a:custGeom>
            <a:avLst/>
            <a:gdLst/>
            <a:ahLst/>
            <a:cxnLst/>
            <a:rect l="l" t="t" r="r" b="b"/>
            <a:pathLst>
              <a:path w="4090991" h="533826" fill="norm" stroke="1" extrusionOk="0">
                <a:moveTo>
                  <a:pt x="19438" y="0"/>
                </a:moveTo>
                <a:lnTo>
                  <a:pt x="4071552" y="0"/>
                </a:lnTo>
                <a:cubicBezTo>
                  <a:pt x="4082288" y="0"/>
                  <a:pt x="4090991" y="8703"/>
                  <a:pt x="4090991" y="19438"/>
                </a:cubicBezTo>
                <a:lnTo>
                  <a:pt x="4090991" y="514387"/>
                </a:lnTo>
                <a:cubicBezTo>
                  <a:pt x="4090991" y="525123"/>
                  <a:pt x="4082288" y="533826"/>
                  <a:pt x="4071552" y="533826"/>
                </a:cubicBezTo>
                <a:lnTo>
                  <a:pt x="19438" y="533826"/>
                </a:lnTo>
                <a:cubicBezTo>
                  <a:pt x="8703" y="533826"/>
                  <a:pt x="0" y="525123"/>
                  <a:pt x="0" y="514387"/>
                </a:cubicBezTo>
                <a:lnTo>
                  <a:pt x="0" y="19438"/>
                </a:lnTo>
                <a:cubicBezTo>
                  <a:pt x="0" y="8703"/>
                  <a:pt x="8703" y="0"/>
                  <a:pt x="19438" y="0"/>
                </a:cubicBezTo>
                <a:close/>
              </a:path>
            </a:pathLst>
          </a:custGeom>
          <a:solidFill>
            <a:srgbClr val="D8F0FC"/>
          </a:solidFill>
        </p:spPr>
        <p:txBody>
          <a:bodyPr anchor="ctr"/>
          <a:p>
            <a:pPr algn="ctr">
              <a:defRPr/>
            </a:pPr>
            <a:r>
              <a:rPr lang="es-ES" sz="7200"/>
              <a:t>4. Conclusión</a:t>
            </a:r>
            <a:endParaRPr/>
          </a:p>
        </p:txBody>
      </p:sp>
      <p:sp>
        <p:nvSpPr>
          <p:cNvPr id="1193303453" name="Freeform 3"/>
          <p:cNvSpPr/>
          <p:nvPr/>
        </p:nvSpPr>
        <p:spPr bwMode="auto">
          <a:xfrm rot="0" flipH="0" flipV="0">
            <a:off x="5143057" y="9032295"/>
            <a:ext cx="8622630" cy="1021089"/>
          </a:xfrm>
          <a:custGeom>
            <a:avLst/>
            <a:gdLst/>
            <a:ahLst/>
            <a:cxnLst/>
            <a:rect l="l" t="t" r="r" b="b"/>
            <a:pathLst>
              <a:path w="4090991" h="533826" fill="norm" stroke="1" extrusionOk="0">
                <a:moveTo>
                  <a:pt x="19438" y="0"/>
                </a:moveTo>
                <a:lnTo>
                  <a:pt x="4071552" y="0"/>
                </a:lnTo>
                <a:cubicBezTo>
                  <a:pt x="4082288" y="0"/>
                  <a:pt x="4090991" y="8703"/>
                  <a:pt x="4090991" y="19438"/>
                </a:cubicBezTo>
                <a:lnTo>
                  <a:pt x="4090991" y="514387"/>
                </a:lnTo>
                <a:cubicBezTo>
                  <a:pt x="4090991" y="525123"/>
                  <a:pt x="4082288" y="533826"/>
                  <a:pt x="4071552" y="533826"/>
                </a:cubicBezTo>
                <a:lnTo>
                  <a:pt x="19438" y="533826"/>
                </a:lnTo>
                <a:cubicBezTo>
                  <a:pt x="8703" y="533826"/>
                  <a:pt x="0" y="525123"/>
                  <a:pt x="0" y="514387"/>
                </a:cubicBezTo>
                <a:lnTo>
                  <a:pt x="0" y="19438"/>
                </a:lnTo>
                <a:cubicBezTo>
                  <a:pt x="0" y="8703"/>
                  <a:pt x="8703" y="0"/>
                  <a:pt x="19438" y="0"/>
                </a:cubicBezTo>
                <a:close/>
              </a:path>
            </a:pathLst>
          </a:custGeom>
          <a:solidFill>
            <a:srgbClr val="D8F0FC"/>
          </a:solidFill>
        </p:spPr>
        <p:txBody>
          <a:bodyPr anchor="ctr"/>
          <a:p>
            <a:pPr algn="ctr">
              <a:defRPr/>
            </a:pPr>
            <a:r>
              <a:rPr lang="es-ES" sz="7200"/>
              <a:t>5. Bibliografía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D8F0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1332144" name="TextBox 2"/>
          <p:cNvSpPr txBox="1"/>
          <p:nvPr/>
        </p:nvSpPr>
        <p:spPr bwMode="auto">
          <a:xfrm rot="0">
            <a:off x="3178864" y="2373988"/>
            <a:ext cx="12141596" cy="7021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r>
              <a:rPr lang="es-ES" sz="120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INTRODUCCIÓN</a:t>
            </a: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</p:txBody>
      </p:sp>
      <p:sp>
        <p:nvSpPr>
          <p:cNvPr id="136790795" name="Freeform 4"/>
          <p:cNvSpPr/>
          <p:nvPr/>
        </p:nvSpPr>
        <p:spPr bwMode="auto">
          <a:xfrm rot="0" flipH="0" flipV="0">
            <a:off x="-564212" y="2480913"/>
            <a:ext cx="6823820" cy="7806087"/>
          </a:xfrm>
          <a:custGeom>
            <a:avLst/>
            <a:gdLst/>
            <a:ahLst/>
            <a:cxnLst/>
            <a:rect l="l" t="t" r="r" b="b"/>
            <a:pathLst>
              <a:path w="6823821" h="7806087" fill="norm" stroke="1" extrusionOk="0">
                <a:moveTo>
                  <a:pt x="0" y="0"/>
                </a:moveTo>
                <a:lnTo>
                  <a:pt x="6823821" y="0"/>
                </a:lnTo>
                <a:lnTo>
                  <a:pt x="6823821" y="7806087"/>
                </a:lnTo>
                <a:lnTo>
                  <a:pt x="0" y="7806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160384778" name="Freeform 5"/>
          <p:cNvSpPr/>
          <p:nvPr/>
        </p:nvSpPr>
        <p:spPr bwMode="auto">
          <a:xfrm rot="0" flipH="1" flipV="1">
            <a:off x="11943112" y="-75197"/>
            <a:ext cx="6754696" cy="7727013"/>
          </a:xfrm>
          <a:custGeom>
            <a:avLst/>
            <a:gdLst/>
            <a:ahLst/>
            <a:cxnLst/>
            <a:rect l="l" t="t" r="r" b="b"/>
            <a:pathLst>
              <a:path w="6754697" h="7727013" fill="norm" stroke="1" extrusionOk="0">
                <a:moveTo>
                  <a:pt x="6754698" y="7727013"/>
                </a:moveTo>
                <a:lnTo>
                  <a:pt x="0" y="7727013"/>
                </a:lnTo>
                <a:lnTo>
                  <a:pt x="0" y="0"/>
                </a:lnTo>
                <a:lnTo>
                  <a:pt x="6754698" y="0"/>
                </a:lnTo>
                <a:lnTo>
                  <a:pt x="6754698" y="7727013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386131" name="TextBox 2"/>
          <p:cNvSpPr txBox="1"/>
          <p:nvPr/>
        </p:nvSpPr>
        <p:spPr bwMode="auto">
          <a:xfrm rot="0">
            <a:off x="1708810" y="1722613"/>
            <a:ext cx="14888016" cy="75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1"/>
              </a:lnSpc>
              <a:defRPr/>
            </a:pPr>
            <a:r>
              <a:rPr lang="es-ES" sz="72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¿Qué es Kubernetes?</a:t>
            </a:r>
            <a:endParaRPr/>
          </a:p>
        </p:txBody>
      </p:sp>
      <p:sp>
        <p:nvSpPr>
          <p:cNvPr id="672775289" name="TextBox 6"/>
          <p:cNvSpPr txBox="1"/>
          <p:nvPr/>
        </p:nvSpPr>
        <p:spPr bwMode="auto">
          <a:xfrm rot="0" flipH="0" flipV="0">
            <a:off x="2235192" y="3733115"/>
            <a:ext cx="6517493" cy="3697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defRPr/>
            </a:pPr>
            <a:r>
              <a:rPr lang="es-ES" sz="3600" b="0" i="0" u="none" strike="noStrike" cap="none" spc="0">
                <a:solidFill>
                  <a:schemeClr val="tx1"/>
                </a:solidFill>
                <a:latin typeface="Lato"/>
                <a:ea typeface="Lato"/>
                <a:cs typeface="Lato"/>
              </a:rPr>
              <a:t>Kubernetes</a:t>
            </a:r>
            <a:r>
              <a:rPr lang="es-ES" sz="3600" b="0" i="0" u="none" strike="noStrike" cap="none" spc="0">
                <a:solidFill>
                  <a:schemeClr val="tx1"/>
                </a:solidFill>
                <a:latin typeface="Lato"/>
                <a:ea typeface="Lato"/>
                <a:cs typeface="Lato"/>
              </a:rPr>
              <a:t> es una plataforma de orquestación de contenedores de código abierto desarrollada por Google. Su propósito principal es gestionar, automatizar el despliegue, escalado, y operación de aplicaciones en contenedores. </a:t>
            </a:r>
            <a:endParaRPr/>
          </a:p>
        </p:txBody>
      </p:sp>
      <p:sp>
        <p:nvSpPr>
          <p:cNvPr id="670165588" name="TextBox 7"/>
          <p:cNvSpPr txBox="1"/>
          <p:nvPr/>
        </p:nvSpPr>
        <p:spPr bwMode="auto">
          <a:xfrm rot="0" flipH="0" flipV="0">
            <a:off x="9703026" y="3733114"/>
            <a:ext cx="7372580" cy="3235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defRPr/>
            </a:pPr>
            <a:r>
              <a:rPr lang="es-ES" sz="3600" b="0" i="0" u="none" strike="noStrike" cap="none" spc="0">
                <a:solidFill>
                  <a:schemeClr val="tx1"/>
                </a:solidFill>
                <a:latin typeface="Lato"/>
                <a:ea typeface="Lato"/>
                <a:cs typeface="Lato"/>
              </a:rPr>
              <a:t>Kubernetes</a:t>
            </a:r>
            <a:r>
              <a:rPr lang="es-ES" sz="3600" b="0" i="0" u="none" strike="noStrike" cap="none" spc="0">
                <a:solidFill>
                  <a:schemeClr val="tx1"/>
                </a:solidFill>
                <a:latin typeface="Lato"/>
                <a:ea typeface="Lato"/>
                <a:cs typeface="Lato"/>
              </a:rPr>
              <a:t> facilita la administración de aplicaciones que se ejecutan en múltiples contenedores distribuidos en diferentes servidores, proporcionando una infraestructura más ágil, eficiente y fácil de administrar.</a:t>
            </a:r>
            <a:endParaRPr/>
          </a:p>
        </p:txBody>
      </p:sp>
      <p:sp>
        <p:nvSpPr>
          <p:cNvPr id="465548772" name="TextBox 8"/>
          <p:cNvSpPr txBox="1"/>
          <p:nvPr/>
        </p:nvSpPr>
        <p:spPr bwMode="auto">
          <a:xfrm rot="0">
            <a:off x="13211785" y="3991185"/>
            <a:ext cx="374042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  <a:defRPr/>
            </a:pPr>
            <a:endParaRPr/>
          </a:p>
        </p:txBody>
      </p:sp>
      <p:sp>
        <p:nvSpPr>
          <p:cNvPr id="1487453547" name="Freeform 9"/>
          <p:cNvSpPr/>
          <p:nvPr/>
        </p:nvSpPr>
        <p:spPr bwMode="auto">
          <a:xfrm rot="0" flipH="0" flipV="0">
            <a:off x="-1950897" y="7758064"/>
            <a:ext cx="9676532" cy="2841968"/>
          </a:xfrm>
          <a:custGeom>
            <a:avLst/>
            <a:gdLst/>
            <a:ahLst/>
            <a:cxnLst/>
            <a:rect l="l" t="t" r="r" b="b"/>
            <a:pathLst>
              <a:path w="9676532" h="2841968" fill="norm" stroke="1" extrusionOk="0">
                <a:moveTo>
                  <a:pt x="0" y="0"/>
                </a:moveTo>
                <a:lnTo>
                  <a:pt x="9676532" y="0"/>
                </a:lnTo>
                <a:lnTo>
                  <a:pt x="9676532" y="2841968"/>
                </a:lnTo>
                <a:lnTo>
                  <a:pt x="0" y="2841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214099" r="0" b="0"/>
            </a:stretch>
          </a:blipFill>
        </p:spPr>
      </p:sp>
      <p:sp>
        <p:nvSpPr>
          <p:cNvPr id="260811184" name="Freeform 10"/>
          <p:cNvSpPr/>
          <p:nvPr/>
        </p:nvSpPr>
        <p:spPr bwMode="auto">
          <a:xfrm rot="0" flipH="1" flipV="1">
            <a:off x="9144000" y="-738145"/>
            <a:ext cx="9676532" cy="2841968"/>
          </a:xfrm>
          <a:custGeom>
            <a:avLst/>
            <a:gdLst/>
            <a:ahLst/>
            <a:cxnLst/>
            <a:rect l="l" t="t" r="r" b="b"/>
            <a:pathLst>
              <a:path w="9676532" h="2841968" fill="norm" stroke="1" extrusionOk="0">
                <a:moveTo>
                  <a:pt x="9676532" y="2841968"/>
                </a:moveTo>
                <a:lnTo>
                  <a:pt x="0" y="2841968"/>
                </a:lnTo>
                <a:lnTo>
                  <a:pt x="0" y="0"/>
                </a:lnTo>
                <a:lnTo>
                  <a:pt x="9676532" y="0"/>
                </a:lnTo>
                <a:lnTo>
                  <a:pt x="9676532" y="2841968"/>
                </a:lnTo>
                <a:close/>
              </a:path>
            </a:pathLst>
          </a:custGeom>
          <a:blipFill rotWithShape="1">
            <a:blip r:embed="rId3"/>
            <a:stretch>
              <a:fillRect l="0" t="-214099" r="0" b="0"/>
            </a:stretch>
          </a:blipFill>
        </p:spPr>
      </p:sp>
      <p:pic>
        <p:nvPicPr>
          <p:cNvPr id="2961797" name="Picture 2" descr="Load balancer en Kubernetes | OVHcloud España"/>
          <p:cNvPicPr>
            <a:picLocks noChangeAspect="1" noChangeArrowheads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5016973" y="7169640"/>
            <a:ext cx="2834954" cy="2834954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6673172" name="TextBox 2"/>
          <p:cNvSpPr txBox="1"/>
          <p:nvPr/>
        </p:nvSpPr>
        <p:spPr bwMode="auto">
          <a:xfrm rot="0">
            <a:off x="1708810" y="1722613"/>
            <a:ext cx="14888016" cy="75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50"/>
              </a:lnSpc>
              <a:defRPr/>
            </a:pPr>
            <a:r>
              <a:rPr lang="es-ES" sz="72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¿Qué es Kubernetes?</a:t>
            </a:r>
            <a:endParaRPr/>
          </a:p>
        </p:txBody>
      </p:sp>
      <p:sp>
        <p:nvSpPr>
          <p:cNvPr id="1104013921" name="TextBox 7"/>
          <p:cNvSpPr txBox="1"/>
          <p:nvPr/>
        </p:nvSpPr>
        <p:spPr bwMode="auto">
          <a:xfrm rot="0" flipH="0" flipV="0">
            <a:off x="9703026" y="3733115"/>
            <a:ext cx="7372221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endParaRPr/>
          </a:p>
        </p:txBody>
      </p:sp>
      <p:sp>
        <p:nvSpPr>
          <p:cNvPr id="667917380" name="TextBox 8"/>
          <p:cNvSpPr txBox="1"/>
          <p:nvPr/>
        </p:nvSpPr>
        <p:spPr bwMode="auto">
          <a:xfrm rot="0">
            <a:off x="13211785" y="3991185"/>
            <a:ext cx="374042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endParaRPr/>
          </a:p>
        </p:txBody>
      </p:sp>
      <p:sp>
        <p:nvSpPr>
          <p:cNvPr id="1312451918" name="Freeform 9"/>
          <p:cNvSpPr/>
          <p:nvPr/>
        </p:nvSpPr>
        <p:spPr bwMode="auto">
          <a:xfrm rot="0" flipH="0" flipV="0">
            <a:off x="-1950896" y="7758062"/>
            <a:ext cx="9676531" cy="2841967"/>
          </a:xfrm>
          <a:custGeom>
            <a:avLst/>
            <a:gdLst/>
            <a:ahLst/>
            <a:cxnLst/>
            <a:rect l="l" t="t" r="r" b="b"/>
            <a:pathLst>
              <a:path w="9676532" h="2841968" fill="norm" stroke="1" extrusionOk="0">
                <a:moveTo>
                  <a:pt x="0" y="0"/>
                </a:moveTo>
                <a:lnTo>
                  <a:pt x="9676532" y="0"/>
                </a:lnTo>
                <a:lnTo>
                  <a:pt x="9676532" y="2841968"/>
                </a:lnTo>
                <a:lnTo>
                  <a:pt x="0" y="28419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214099" r="0" b="0"/>
            </a:stretch>
          </a:blipFill>
        </p:spPr>
      </p:sp>
      <p:sp>
        <p:nvSpPr>
          <p:cNvPr id="1852577960" name="Freeform 10"/>
          <p:cNvSpPr/>
          <p:nvPr/>
        </p:nvSpPr>
        <p:spPr bwMode="auto">
          <a:xfrm rot="0" flipH="1" flipV="1">
            <a:off x="9144000" y="-738144"/>
            <a:ext cx="9676531" cy="2841967"/>
          </a:xfrm>
          <a:custGeom>
            <a:avLst/>
            <a:gdLst/>
            <a:ahLst/>
            <a:cxnLst/>
            <a:rect l="l" t="t" r="r" b="b"/>
            <a:pathLst>
              <a:path w="9676532" h="2841968" fill="norm" stroke="1" extrusionOk="0">
                <a:moveTo>
                  <a:pt x="9676532" y="2841968"/>
                </a:moveTo>
                <a:lnTo>
                  <a:pt x="0" y="2841968"/>
                </a:lnTo>
                <a:lnTo>
                  <a:pt x="0" y="0"/>
                </a:lnTo>
                <a:lnTo>
                  <a:pt x="9676532" y="0"/>
                </a:lnTo>
                <a:lnTo>
                  <a:pt x="9676532" y="2841968"/>
                </a:lnTo>
                <a:close/>
              </a:path>
            </a:pathLst>
          </a:custGeom>
          <a:blipFill rotWithShape="1">
            <a:blip r:embed="rId3"/>
            <a:stretch>
              <a:fillRect l="0" t="-214099" r="0" b="0"/>
            </a:stretch>
          </a:blipFill>
        </p:spPr>
      </p:sp>
      <p:sp>
        <p:nvSpPr>
          <p:cNvPr id="433593004" name=""/>
          <p:cNvSpPr txBox="1"/>
          <p:nvPr/>
        </p:nvSpPr>
        <p:spPr bwMode="auto">
          <a:xfrm rot="0" flipH="0" flipV="0">
            <a:off x="7973486" y="3001415"/>
            <a:ext cx="3816839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s-ES" sz="4500" b="1">
                <a:solidFill>
                  <a:schemeClr val="tx2"/>
                </a:solidFill>
              </a:rPr>
              <a:t>Omega</a:t>
            </a:r>
            <a:endParaRPr sz="4500" b="1">
              <a:solidFill>
                <a:schemeClr val="tx2"/>
              </a:solidFill>
            </a:endParaRPr>
          </a:p>
          <a:p>
            <a:pPr>
              <a:defRPr/>
            </a:pPr>
            <a:r>
              <a:rPr lang="es-ES" sz="4500" b="1">
                <a:solidFill>
                  <a:schemeClr val="tx2"/>
                </a:solidFill>
              </a:rPr>
              <a:t>(2013)</a:t>
            </a:r>
            <a:endParaRPr/>
          </a:p>
        </p:txBody>
      </p:sp>
      <p:sp>
        <p:nvSpPr>
          <p:cNvPr id="1976908157" name=""/>
          <p:cNvSpPr txBox="1"/>
          <p:nvPr/>
        </p:nvSpPr>
        <p:spPr bwMode="auto">
          <a:xfrm rot="0" flipH="0" flipV="0">
            <a:off x="12660789" y="3031576"/>
            <a:ext cx="3570141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s-ES" sz="4500" b="1">
                <a:solidFill>
                  <a:schemeClr val="tx2"/>
                </a:solidFill>
              </a:rPr>
              <a:t>Kubernetes</a:t>
            </a:r>
            <a:endParaRPr sz="4500" b="1">
              <a:solidFill>
                <a:schemeClr val="tx2"/>
              </a:solidFill>
            </a:endParaRPr>
          </a:p>
          <a:p>
            <a:pPr algn="ctr">
              <a:defRPr/>
            </a:pPr>
            <a:r>
              <a:rPr lang="es-ES" sz="4500" b="1">
                <a:solidFill>
                  <a:schemeClr val="tx2"/>
                </a:solidFill>
              </a:rPr>
              <a:t>(2014)</a:t>
            </a:r>
            <a:endParaRPr/>
          </a:p>
        </p:txBody>
      </p:sp>
      <p:sp>
        <p:nvSpPr>
          <p:cNvPr id="532306267" name=""/>
          <p:cNvSpPr txBox="1"/>
          <p:nvPr/>
        </p:nvSpPr>
        <p:spPr bwMode="auto">
          <a:xfrm rot="0" flipH="0" flipV="0">
            <a:off x="2509144" y="4494976"/>
            <a:ext cx="3640299" cy="3932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394023" indent="-394023">
              <a:buFont typeface="Arial"/>
              <a:buChar char="•"/>
              <a:defRPr/>
            </a:pPr>
            <a:r>
              <a:rPr lang="es-ES" sz="3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Solo lo puede usar Google.</a:t>
            </a:r>
            <a:endParaRPr sz="3600"/>
          </a:p>
          <a:p>
            <a:pPr marL="394023" indent="-394023">
              <a:buFont typeface="Arial"/>
              <a:buChar char="•"/>
              <a:defRPr/>
            </a:pPr>
            <a:r>
              <a:rPr lang="es-ES" sz="3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Arquitectura centralizada.</a:t>
            </a:r>
            <a:endParaRPr lang="en-US" sz="3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94023" indent="-394023">
              <a:buFont typeface="Arial"/>
              <a:buChar char="•"/>
              <a:defRPr/>
            </a:pPr>
            <a:r>
              <a:rPr lang="es-ES" sz="36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Controlado por un planificador central.</a:t>
            </a:r>
            <a:endParaRPr/>
          </a:p>
        </p:txBody>
      </p:sp>
      <p:sp>
        <p:nvSpPr>
          <p:cNvPr id="1809288321" name=""/>
          <p:cNvSpPr txBox="1"/>
          <p:nvPr/>
        </p:nvSpPr>
        <p:spPr bwMode="auto">
          <a:xfrm rot="0" flipH="0" flipV="0">
            <a:off x="7128335" y="4609848"/>
            <a:ext cx="4711402" cy="3932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 algn="l">
              <a:buFont typeface="Arial"/>
              <a:buChar char="•"/>
              <a:defRPr/>
            </a:pPr>
            <a:r>
              <a:rPr lang="es-ES" sz="3600"/>
              <a:t>Solo lo puede usar Google.</a:t>
            </a:r>
            <a:endParaRPr sz="3600"/>
          </a:p>
          <a:p>
            <a:pPr marL="482137" indent="-482137" algn="l">
              <a:buFont typeface="Arial"/>
              <a:buChar char="•"/>
              <a:defRPr/>
            </a:pPr>
            <a:r>
              <a:rPr lang="es-ES" sz="3600"/>
              <a:t>Arquitectura distribuida.</a:t>
            </a:r>
            <a:endParaRPr sz="3600"/>
          </a:p>
          <a:p>
            <a:pPr marL="482137" indent="-482137" algn="l">
              <a:buFont typeface="Arial"/>
              <a:buChar char="•"/>
              <a:defRPr/>
            </a:pPr>
            <a:r>
              <a:rPr lang="es-ES" sz="3600"/>
              <a:t>Permite a varios planificadores trabajar a la vez</a:t>
            </a:r>
            <a:r>
              <a:rPr lang="es-ES"/>
              <a:t>.</a:t>
            </a:r>
            <a:endParaRPr/>
          </a:p>
        </p:txBody>
      </p:sp>
      <p:sp>
        <p:nvSpPr>
          <p:cNvPr id="894662425" name=""/>
          <p:cNvSpPr txBox="1"/>
          <p:nvPr/>
        </p:nvSpPr>
        <p:spPr bwMode="auto">
          <a:xfrm rot="0" flipH="0" flipV="0">
            <a:off x="12255045" y="4609848"/>
            <a:ext cx="4747294" cy="3932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482137" indent="-482137" algn="l">
              <a:buFont typeface="Arial"/>
              <a:buChar char="•"/>
              <a:defRPr/>
            </a:pPr>
            <a:r>
              <a:rPr lang="es-ES" sz="3600"/>
              <a:t>Abierto a todo el mundo.</a:t>
            </a:r>
            <a:endParaRPr sz="3600"/>
          </a:p>
          <a:p>
            <a:pPr marL="482137" indent="-482137" algn="l">
              <a:buFont typeface="Arial"/>
              <a:buChar char="•"/>
              <a:defRPr/>
            </a:pPr>
            <a:r>
              <a:rPr lang="es-ES" sz="3600"/>
              <a:t>Arquitectura modular y API-</a:t>
            </a:r>
            <a:r>
              <a:rPr lang="es-ES" sz="3600"/>
              <a:t>driven</a:t>
            </a:r>
            <a:r>
              <a:rPr lang="es-ES" sz="3600"/>
              <a:t>.</a:t>
            </a:r>
            <a:endParaRPr sz="3600"/>
          </a:p>
          <a:p>
            <a:pPr marL="482137" indent="-482137" algn="l">
              <a:buFont typeface="Arial"/>
              <a:buChar char="•"/>
              <a:defRPr/>
            </a:pPr>
            <a:r>
              <a:rPr lang="es-ES" sz="3600"/>
              <a:t>Permite a los componentes trabajar en paralelo.</a:t>
            </a:r>
            <a:endParaRPr/>
          </a:p>
        </p:txBody>
      </p:sp>
      <p:sp>
        <p:nvSpPr>
          <p:cNvPr id="466748823" name=""/>
          <p:cNvSpPr txBox="1"/>
          <p:nvPr/>
        </p:nvSpPr>
        <p:spPr bwMode="auto">
          <a:xfrm rot="0" flipH="0" flipV="0">
            <a:off x="2697318" y="3031576"/>
            <a:ext cx="3265032" cy="1463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s-ES" sz="4500" b="1">
                <a:solidFill>
                  <a:schemeClr val="tx2"/>
                </a:solidFill>
              </a:rPr>
              <a:t>Borg</a:t>
            </a:r>
            <a:endParaRPr sz="4500" b="1">
              <a:solidFill>
                <a:schemeClr val="tx2"/>
              </a:solidFill>
            </a:endParaRPr>
          </a:p>
          <a:p>
            <a:pPr algn="ctr">
              <a:defRPr/>
            </a:pPr>
            <a:r>
              <a:rPr lang="es-ES" sz="4500" b="1">
                <a:solidFill>
                  <a:schemeClr val="tx2"/>
                </a:solidFill>
              </a:rPr>
              <a:t>(2003)</a:t>
            </a:r>
            <a:endParaRPr/>
          </a:p>
        </p:txBody>
      </p:sp>
      <p:sp>
        <p:nvSpPr>
          <p:cNvPr id="451685669" name=""/>
          <p:cNvSpPr/>
          <p:nvPr/>
        </p:nvSpPr>
        <p:spPr bwMode="auto">
          <a:xfrm rot="0" flipH="0" flipV="0">
            <a:off x="5817828" y="5840328"/>
            <a:ext cx="1002631" cy="37598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096836" name=""/>
          <p:cNvSpPr/>
          <p:nvPr/>
        </p:nvSpPr>
        <p:spPr bwMode="auto">
          <a:xfrm rot="0" flipH="0" flipV="0">
            <a:off x="11131776" y="5890460"/>
            <a:ext cx="977565" cy="375986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D8F0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3539952" name="TextBox 2"/>
          <p:cNvSpPr txBox="1"/>
          <p:nvPr/>
        </p:nvSpPr>
        <p:spPr bwMode="auto">
          <a:xfrm rot="0" flipH="0" flipV="0">
            <a:off x="2784868" y="3527014"/>
            <a:ext cx="12774144" cy="4388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r>
              <a:rPr lang="es-ES" sz="120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ARQUITECTURA</a:t>
            </a: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</p:txBody>
      </p:sp>
      <p:sp>
        <p:nvSpPr>
          <p:cNvPr id="764015638" name="Freeform 4"/>
          <p:cNvSpPr/>
          <p:nvPr/>
        </p:nvSpPr>
        <p:spPr bwMode="auto">
          <a:xfrm rot="0" flipH="0" flipV="0">
            <a:off x="-564212" y="2480913"/>
            <a:ext cx="6823820" cy="7806087"/>
          </a:xfrm>
          <a:custGeom>
            <a:avLst/>
            <a:gdLst/>
            <a:ahLst/>
            <a:cxnLst/>
            <a:rect l="l" t="t" r="r" b="b"/>
            <a:pathLst>
              <a:path w="6823821" h="7806087" fill="norm" stroke="1" extrusionOk="0">
                <a:moveTo>
                  <a:pt x="0" y="0"/>
                </a:moveTo>
                <a:lnTo>
                  <a:pt x="6823821" y="0"/>
                </a:lnTo>
                <a:lnTo>
                  <a:pt x="6823821" y="7806087"/>
                </a:lnTo>
                <a:lnTo>
                  <a:pt x="0" y="7806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661485242" name="Freeform 5"/>
          <p:cNvSpPr/>
          <p:nvPr/>
        </p:nvSpPr>
        <p:spPr bwMode="auto">
          <a:xfrm rot="0" flipH="1" flipV="1">
            <a:off x="11943112" y="-75197"/>
            <a:ext cx="6754696" cy="7727013"/>
          </a:xfrm>
          <a:custGeom>
            <a:avLst/>
            <a:gdLst/>
            <a:ahLst/>
            <a:cxnLst/>
            <a:rect l="l" t="t" r="r" b="b"/>
            <a:pathLst>
              <a:path w="6754697" h="7727013" fill="norm" stroke="1" extrusionOk="0">
                <a:moveTo>
                  <a:pt x="6754698" y="7727013"/>
                </a:moveTo>
                <a:lnTo>
                  <a:pt x="0" y="7727013"/>
                </a:lnTo>
                <a:lnTo>
                  <a:pt x="0" y="0"/>
                </a:lnTo>
                <a:lnTo>
                  <a:pt x="6754698" y="0"/>
                </a:lnTo>
                <a:lnTo>
                  <a:pt x="6754698" y="7727013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455569" name="TextBox 2"/>
          <p:cNvSpPr txBox="1"/>
          <p:nvPr/>
        </p:nvSpPr>
        <p:spPr bwMode="auto">
          <a:xfrm rot="0">
            <a:off x="1446823" y="1144596"/>
            <a:ext cx="15461291" cy="87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  <a:defRPr/>
            </a:pPr>
            <a:r>
              <a:rPr lang="es-ES" sz="64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Conceptos básicos</a:t>
            </a:r>
            <a:endParaRPr/>
          </a:p>
        </p:txBody>
      </p:sp>
      <p:grpSp>
        <p:nvGrpSpPr>
          <p:cNvPr id="1807919375" name="Group 6"/>
          <p:cNvGrpSpPr/>
          <p:nvPr/>
        </p:nvGrpSpPr>
        <p:grpSpPr bwMode="auto">
          <a:xfrm rot="0" flipH="0" flipV="0">
            <a:off x="1377508" y="2957761"/>
            <a:ext cx="8121368" cy="6977406"/>
            <a:chOff x="0" y="0"/>
            <a:chExt cx="8121368" cy="6977406"/>
          </a:xfrm>
        </p:grpSpPr>
        <p:sp>
          <p:nvSpPr>
            <p:cNvPr id="1310728920" name="Freeform 7"/>
            <p:cNvSpPr/>
            <p:nvPr/>
          </p:nvSpPr>
          <p:spPr bwMode="auto">
            <a:xfrm rot="0" flipH="0" flipV="0">
              <a:off x="0" y="0"/>
              <a:ext cx="7766489" cy="6350761"/>
            </a:xfrm>
            <a:custGeom>
              <a:avLst/>
              <a:gdLst/>
              <a:ahLst/>
              <a:cxnLst/>
              <a:rect l="l" t="t" r="r" b="b"/>
              <a:pathLst>
                <a:path w="2045495" h="868289" fill="norm" stroke="1" extrusionOk="0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9412"/>
                  </a:lnTo>
                  <a:cubicBezTo>
                    <a:pt x="2045495" y="839723"/>
                    <a:pt x="2041399" y="849611"/>
                    <a:pt x="2034109" y="856902"/>
                  </a:cubicBezTo>
                  <a:cubicBezTo>
                    <a:pt x="2026818" y="864193"/>
                    <a:pt x="2016929" y="868289"/>
                    <a:pt x="2006619" y="868289"/>
                  </a:cubicBezTo>
                  <a:lnTo>
                    <a:pt x="38877" y="868289"/>
                  </a:lnTo>
                  <a:cubicBezTo>
                    <a:pt x="28566" y="868289"/>
                    <a:pt x="18677" y="864193"/>
                    <a:pt x="11387" y="856902"/>
                  </a:cubicBezTo>
                  <a:cubicBezTo>
                    <a:pt x="4096" y="849611"/>
                    <a:pt x="0" y="839723"/>
                    <a:pt x="0" y="82941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id="1695798063" name="TextBox 8"/>
            <p:cNvSpPr txBox="1"/>
            <p:nvPr/>
          </p:nvSpPr>
          <p:spPr bwMode="auto">
            <a:xfrm>
              <a:off x="354880" y="138976"/>
              <a:ext cx="7766489" cy="6838430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3358"/>
                </a:lnSpc>
                <a:defRPr/>
              </a:pPr>
              <a:endParaRPr/>
            </a:p>
          </p:txBody>
        </p:sp>
      </p:grpSp>
      <p:grpSp>
        <p:nvGrpSpPr>
          <p:cNvPr id="127468752" name="Group 12"/>
          <p:cNvGrpSpPr/>
          <p:nvPr/>
        </p:nvGrpSpPr>
        <p:grpSpPr bwMode="auto">
          <a:xfrm rot="0" flipH="0" flipV="0">
            <a:off x="9327783" y="2907631"/>
            <a:ext cx="7766489" cy="6400893"/>
            <a:chOff x="0" y="0"/>
            <a:chExt cx="7766489" cy="6400893"/>
          </a:xfrm>
        </p:grpSpPr>
        <p:sp>
          <p:nvSpPr>
            <p:cNvPr id="2010288790" name="Freeform 13"/>
            <p:cNvSpPr/>
            <p:nvPr/>
          </p:nvSpPr>
          <p:spPr bwMode="auto">
            <a:xfrm rot="0" flipH="0" flipV="0">
              <a:off x="0" y="0"/>
              <a:ext cx="7766489" cy="6400893"/>
            </a:xfrm>
            <a:custGeom>
              <a:avLst/>
              <a:gdLst/>
              <a:ahLst/>
              <a:cxnLst/>
              <a:rect l="l" t="t" r="r" b="b"/>
              <a:pathLst>
                <a:path w="2045495" h="868289" fill="norm" stroke="1" extrusionOk="0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9412"/>
                  </a:lnTo>
                  <a:cubicBezTo>
                    <a:pt x="2045495" y="839723"/>
                    <a:pt x="2041399" y="849611"/>
                    <a:pt x="2034109" y="856902"/>
                  </a:cubicBezTo>
                  <a:cubicBezTo>
                    <a:pt x="2026818" y="864193"/>
                    <a:pt x="2016929" y="868289"/>
                    <a:pt x="2006619" y="868289"/>
                  </a:cubicBezTo>
                  <a:lnTo>
                    <a:pt x="38877" y="868289"/>
                  </a:lnTo>
                  <a:cubicBezTo>
                    <a:pt x="28566" y="868289"/>
                    <a:pt x="18677" y="864193"/>
                    <a:pt x="11387" y="856902"/>
                  </a:cubicBezTo>
                  <a:cubicBezTo>
                    <a:pt x="4096" y="849611"/>
                    <a:pt x="0" y="839723"/>
                    <a:pt x="0" y="82941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id="1469316167" name="TextBox 14"/>
            <p:cNvSpPr txBox="1"/>
            <p:nvPr/>
          </p:nvSpPr>
          <p:spPr bwMode="auto">
            <a:xfrm>
              <a:off x="0" y="-491517"/>
              <a:ext cx="7766489" cy="6892410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3358"/>
                </a:lnSpc>
                <a:defRPr/>
              </a:pPr>
              <a:endParaRPr/>
            </a:p>
          </p:txBody>
        </p:sp>
      </p:grpSp>
      <p:sp>
        <p:nvSpPr>
          <p:cNvPr id="562947474" name="TextBox 17"/>
          <p:cNvSpPr txBox="1"/>
          <p:nvPr/>
        </p:nvSpPr>
        <p:spPr bwMode="auto">
          <a:xfrm rot="0" flipH="0" flipV="0">
            <a:off x="1940437" y="4612104"/>
            <a:ext cx="7049357" cy="359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Es una máquina (física o virtual) donde corre kubernetes</a:t>
            </a:r>
            <a:r>
              <a:rPr lang="es-ES"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. </a:t>
            </a: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Tipos</a:t>
            </a:r>
            <a:r>
              <a:rPr lang="es-ES"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:</a:t>
            </a:r>
            <a:endParaRPr sz="10000">
              <a:latin typeface="Segoe UI"/>
              <a:cs typeface="Segoe UI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Control-plane </a:t>
            </a:r>
            <a:r>
              <a:rPr lang="es-ES"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/ master</a:t>
            </a: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 → el “cerebro”</a:t>
            </a:r>
            <a:endParaRPr sz="10000">
              <a:latin typeface="Segoe UI"/>
              <a:cs typeface="Segoe UI"/>
            </a:endParaRPr>
          </a:p>
          <a:p>
            <a:pPr marL="482137" indent="-482137" algn="l">
              <a:lnSpc>
                <a:spcPts val="3358"/>
              </a:lnSpc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Worker  → donde se ejecutan las aplicaciones</a:t>
            </a:r>
            <a:endParaRPr/>
          </a:p>
        </p:txBody>
      </p:sp>
      <p:sp>
        <p:nvSpPr>
          <p:cNvPr id="1320091386" name="TextBox 18"/>
          <p:cNvSpPr txBox="1"/>
          <p:nvPr/>
        </p:nvSpPr>
        <p:spPr bwMode="auto">
          <a:xfrm rot="0" flipH="0" flipV="0">
            <a:off x="9651489" y="4612104"/>
            <a:ext cx="6750769" cy="414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Es la unidad mínima en Kubernetes. Un pod contiene uno o varios contenedores.</a:t>
            </a:r>
            <a:endParaRPr sz="3600"/>
          </a:p>
          <a:p>
            <a:pPr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Ejemplo</a:t>
            </a:r>
            <a:r>
              <a:rPr lang="es-ES"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s</a:t>
            </a: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:</a:t>
            </a:r>
            <a:endParaRPr sz="3600"/>
          </a:p>
          <a:p>
            <a:pPr marL="482137" indent="-482137"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un pod con Nginx (servidor web)</a:t>
            </a:r>
            <a:endParaRPr sz="3600"/>
          </a:p>
          <a:p>
            <a:pPr marL="482137" indent="-482137" algn="l">
              <a:lnSpc>
                <a:spcPts val="3358"/>
              </a:lnSpc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un pod con una app en Python</a:t>
            </a:r>
            <a:endParaRPr/>
          </a:p>
        </p:txBody>
      </p:sp>
      <p:sp>
        <p:nvSpPr>
          <p:cNvPr id="1839057301" name="TextBox 21"/>
          <p:cNvSpPr txBox="1"/>
          <p:nvPr/>
        </p:nvSpPr>
        <p:spPr bwMode="auto">
          <a:xfrm rot="0">
            <a:off x="1854324" y="3429000"/>
            <a:ext cx="6620251" cy="793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48"/>
              </a:lnSpc>
              <a:spcBef>
                <a:spcPts val="0"/>
              </a:spcBef>
              <a:defRPr/>
            </a:pPr>
            <a:r>
              <a:rPr lang="es-ES" sz="48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Nodo (nodo):</a:t>
            </a:r>
            <a:endParaRPr/>
          </a:p>
        </p:txBody>
      </p:sp>
      <p:sp>
        <p:nvSpPr>
          <p:cNvPr id="1433716466" name="TextBox 22"/>
          <p:cNvSpPr txBox="1"/>
          <p:nvPr/>
        </p:nvSpPr>
        <p:spPr bwMode="auto">
          <a:xfrm rot="0">
            <a:off x="9651490" y="3429000"/>
            <a:ext cx="6622051" cy="793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48"/>
              </a:lnSpc>
              <a:spcBef>
                <a:spcPts val="0"/>
              </a:spcBef>
              <a:defRPr/>
            </a:pPr>
            <a:r>
              <a:rPr lang="es-ES" sz="48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Pod: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46991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82236" y="626644"/>
            <a:ext cx="14438228" cy="92475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9206743" name="TextBox 2"/>
          <p:cNvSpPr txBox="1"/>
          <p:nvPr/>
        </p:nvSpPr>
        <p:spPr bwMode="auto">
          <a:xfrm rot="0">
            <a:off x="8202673" y="640071"/>
            <a:ext cx="7818624" cy="175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10"/>
              </a:lnSpc>
              <a:spcBef>
                <a:spcPts val="0"/>
              </a:spcBef>
              <a:defRPr/>
            </a:pPr>
            <a:r>
              <a:rPr lang="es-ES" sz="64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Componentes de un nodo</a:t>
            </a:r>
            <a:endParaRPr/>
          </a:p>
        </p:txBody>
      </p:sp>
      <p:sp>
        <p:nvSpPr>
          <p:cNvPr id="752894180" name="TextBox 3"/>
          <p:cNvSpPr txBox="1"/>
          <p:nvPr/>
        </p:nvSpPr>
        <p:spPr bwMode="auto">
          <a:xfrm rot="0" flipH="0" flipV="0">
            <a:off x="7771874" y="2797968"/>
            <a:ext cx="8670436" cy="646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137" indent="-482137">
              <a:buFont typeface="Arial"/>
              <a:buChar char="•"/>
              <a:defRPr/>
            </a:pPr>
            <a:r>
              <a:rPr sz="36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Pods: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ejecutan las aplicaciones dentro de contenedores.</a:t>
            </a:r>
            <a:endParaRPr sz="1100" b="0" i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82137" indent="-482137">
              <a:buFont typeface="Arial"/>
              <a:buChar char="•"/>
              <a:defRPr/>
            </a:pPr>
            <a:endParaRPr sz="1100">
              <a:latin typeface="Calibri"/>
              <a:ea typeface="Calibri"/>
              <a:cs typeface="Calibri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sz="36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kube‑proxy: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gestiona la red y el balanceo de tráfico entre pods.</a:t>
            </a:r>
            <a:endParaRPr sz="1100">
              <a:latin typeface="Calibri"/>
              <a:ea typeface="Calibri"/>
              <a:cs typeface="Calibri"/>
            </a:endParaRPr>
          </a:p>
          <a:p>
            <a:pPr marL="482137" indent="-482137">
              <a:buFont typeface="Arial"/>
              <a:buChar char="•"/>
              <a:defRPr/>
            </a:pPr>
            <a:endParaRPr sz="1100">
              <a:latin typeface="Calibri"/>
              <a:cs typeface="Calibri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sz="36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Container Runtime: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motor que ejecuta los contenedores (Docker, containerd…).</a:t>
            </a:r>
            <a:endParaRPr sz="1100">
              <a:latin typeface="Calibri"/>
              <a:ea typeface="Calibri"/>
              <a:cs typeface="Calibri"/>
            </a:endParaRPr>
          </a:p>
          <a:p>
            <a:pPr marL="482137" indent="-482137">
              <a:buFont typeface="Arial"/>
              <a:buChar char="•"/>
              <a:defRPr/>
            </a:pPr>
            <a:endParaRPr sz="1100">
              <a:latin typeface="Calibri"/>
              <a:cs typeface="Calibri"/>
            </a:endParaRPr>
          </a:p>
          <a:p>
            <a:pPr marL="482137" indent="-482137">
              <a:buFont typeface="Arial"/>
              <a:buChar char="•"/>
              <a:defRPr/>
            </a:pPr>
            <a:r>
              <a:rPr sz="36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kubelet: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agente que comunica el nodo con el control‑plane y supervisa los pods.</a:t>
            </a:r>
            <a:endParaRPr sz="1100">
              <a:latin typeface="Calibri"/>
              <a:ea typeface="Calibri"/>
              <a:cs typeface="Calibri"/>
            </a:endParaRPr>
          </a:p>
          <a:p>
            <a:pPr marL="482137" indent="-482137">
              <a:buFont typeface="Arial"/>
              <a:buChar char="•"/>
              <a:defRPr/>
            </a:pPr>
            <a:endParaRPr sz="1100">
              <a:latin typeface="Calibri"/>
              <a:cs typeface="Calibri"/>
            </a:endParaRPr>
          </a:p>
          <a:p>
            <a:pPr marL="482137" indent="-482137" algn="l">
              <a:lnSpc>
                <a:spcPts val="3638"/>
              </a:lnSpc>
              <a:buFont typeface="Arial"/>
              <a:buChar char="•"/>
              <a:defRPr/>
            </a:pPr>
            <a:r>
              <a:rPr sz="36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Servicios del sistema: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procesos del SO que permiten que el nodo funcione.</a:t>
            </a:r>
            <a:endParaRPr sz="1100">
              <a:latin typeface="Calibri"/>
              <a:ea typeface="Calibri"/>
              <a:cs typeface="Calibri"/>
            </a:endParaRPr>
          </a:p>
          <a:p>
            <a:pPr marL="482137" indent="-482137" algn="l">
              <a:lnSpc>
                <a:spcPts val="3638"/>
              </a:lnSpc>
              <a:buFont typeface="Arial"/>
              <a:buChar char="•"/>
              <a:defRPr/>
            </a:pPr>
            <a:endParaRPr sz="1100"/>
          </a:p>
        </p:txBody>
      </p:sp>
      <p:grpSp>
        <p:nvGrpSpPr>
          <p:cNvPr id="1075627777" name="Group 4"/>
          <p:cNvGrpSpPr/>
          <p:nvPr/>
        </p:nvGrpSpPr>
        <p:grpSpPr bwMode="auto">
          <a:xfrm rot="0">
            <a:off x="-1460381" y="-781342"/>
            <a:ext cx="5941359" cy="11839950"/>
            <a:chOff x="0" y="0"/>
            <a:chExt cx="1564803" cy="3118340"/>
          </a:xfrm>
        </p:grpSpPr>
        <p:sp>
          <p:nvSpPr>
            <p:cNvPr id="1554143102" name="Freeform 5"/>
            <p:cNvSpPr/>
            <p:nvPr/>
          </p:nvSpPr>
          <p:spPr bwMode="auto">
            <a:xfrm rot="0" flipH="0" flipV="0">
              <a:off x="0" y="0"/>
              <a:ext cx="1564803" cy="3118340"/>
            </a:xfrm>
            <a:custGeom>
              <a:avLst/>
              <a:gdLst/>
              <a:ahLst/>
              <a:cxnLst/>
              <a:rect l="l" t="t" r="r" b="b"/>
              <a:pathLst>
                <a:path w="1564803" h="3118341" fill="norm" stroke="1" extrusionOk="0">
                  <a:moveTo>
                    <a:pt x="66456" y="0"/>
                  </a:moveTo>
                  <a:lnTo>
                    <a:pt x="1498347" y="0"/>
                  </a:lnTo>
                  <a:cubicBezTo>
                    <a:pt x="1535049" y="0"/>
                    <a:pt x="1564803" y="29753"/>
                    <a:pt x="1564803" y="66456"/>
                  </a:cubicBezTo>
                  <a:lnTo>
                    <a:pt x="1564803" y="3051885"/>
                  </a:lnTo>
                  <a:cubicBezTo>
                    <a:pt x="1564803" y="3088587"/>
                    <a:pt x="1535049" y="3118341"/>
                    <a:pt x="1498347" y="3118341"/>
                  </a:cubicBezTo>
                  <a:lnTo>
                    <a:pt x="66456" y="3118341"/>
                  </a:lnTo>
                  <a:cubicBezTo>
                    <a:pt x="29753" y="3118341"/>
                    <a:pt x="0" y="3088587"/>
                    <a:pt x="0" y="3051885"/>
                  </a:cubicBezTo>
                  <a:lnTo>
                    <a:pt x="0" y="66456"/>
                  </a:lnTo>
                  <a:cubicBezTo>
                    <a:pt x="0" y="29753"/>
                    <a:pt x="29753" y="0"/>
                    <a:pt x="66456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id="1572839425" name="TextBox 6"/>
            <p:cNvSpPr txBox="1"/>
            <p:nvPr/>
          </p:nvSpPr>
          <p:spPr bwMode="auto">
            <a:xfrm>
              <a:off x="0" y="-66674"/>
              <a:ext cx="1564803" cy="3185015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3358"/>
                </a:lnSpc>
                <a:defRPr/>
              </a:pPr>
              <a:endParaRPr/>
            </a:p>
          </p:txBody>
        </p:sp>
      </p:grpSp>
      <p:pic>
        <p:nvPicPr>
          <p:cNvPr id="212080495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82429" y="1007848"/>
            <a:ext cx="7188328" cy="85828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5519520" name="TextBox 2"/>
          <p:cNvSpPr txBox="1"/>
          <p:nvPr/>
        </p:nvSpPr>
        <p:spPr bwMode="auto">
          <a:xfrm rot="0">
            <a:off x="1446823" y="1144596"/>
            <a:ext cx="15461291" cy="87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10"/>
              </a:lnSpc>
              <a:defRPr/>
            </a:pPr>
            <a:r>
              <a:rPr lang="es-ES" sz="64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Conceptos básicos</a:t>
            </a:r>
            <a:endParaRPr/>
          </a:p>
        </p:txBody>
      </p:sp>
      <p:grpSp>
        <p:nvGrpSpPr>
          <p:cNvPr id="1518298888" name="Group 6"/>
          <p:cNvGrpSpPr/>
          <p:nvPr/>
        </p:nvGrpSpPr>
        <p:grpSpPr bwMode="auto">
          <a:xfrm rot="0" flipH="0" flipV="0">
            <a:off x="1377509" y="2957762"/>
            <a:ext cx="7766489" cy="6350761"/>
            <a:chOff x="0" y="0"/>
            <a:chExt cx="7766489" cy="6350761"/>
          </a:xfrm>
        </p:grpSpPr>
        <p:sp>
          <p:nvSpPr>
            <p:cNvPr id="2096168629" name="Freeform 7"/>
            <p:cNvSpPr/>
            <p:nvPr/>
          </p:nvSpPr>
          <p:spPr bwMode="auto">
            <a:xfrm rot="0" flipH="0" flipV="0">
              <a:off x="0" y="0"/>
              <a:ext cx="7766489" cy="6350761"/>
            </a:xfrm>
            <a:custGeom>
              <a:avLst/>
              <a:gdLst/>
              <a:ahLst/>
              <a:cxnLst/>
              <a:rect l="l" t="t" r="r" b="b"/>
              <a:pathLst>
                <a:path w="2045495" h="868289" fill="norm" stroke="1" extrusionOk="0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9412"/>
                  </a:lnTo>
                  <a:cubicBezTo>
                    <a:pt x="2045495" y="839723"/>
                    <a:pt x="2041399" y="849611"/>
                    <a:pt x="2034109" y="856902"/>
                  </a:cubicBezTo>
                  <a:cubicBezTo>
                    <a:pt x="2026818" y="864193"/>
                    <a:pt x="2016929" y="868289"/>
                    <a:pt x="2006619" y="868289"/>
                  </a:cubicBezTo>
                  <a:lnTo>
                    <a:pt x="38877" y="868289"/>
                  </a:lnTo>
                  <a:cubicBezTo>
                    <a:pt x="28566" y="868289"/>
                    <a:pt x="18677" y="864193"/>
                    <a:pt x="11387" y="856902"/>
                  </a:cubicBezTo>
                  <a:cubicBezTo>
                    <a:pt x="4096" y="849611"/>
                    <a:pt x="0" y="839723"/>
                    <a:pt x="0" y="82941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id="130308411" name="TextBox 8"/>
            <p:cNvSpPr txBox="1"/>
            <p:nvPr/>
          </p:nvSpPr>
          <p:spPr bwMode="auto">
            <a:xfrm>
              <a:off x="0" y="-487668"/>
              <a:ext cx="7766489" cy="6838430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3358"/>
                </a:lnSpc>
                <a:defRPr/>
              </a:pPr>
              <a:endParaRPr/>
            </a:p>
          </p:txBody>
        </p:sp>
      </p:grpSp>
      <p:grpSp>
        <p:nvGrpSpPr>
          <p:cNvPr id="850040771" name="Group 12"/>
          <p:cNvGrpSpPr/>
          <p:nvPr/>
        </p:nvGrpSpPr>
        <p:grpSpPr bwMode="auto">
          <a:xfrm rot="0" flipH="0" flipV="0">
            <a:off x="9327783" y="2907631"/>
            <a:ext cx="7766489" cy="6400893"/>
            <a:chOff x="0" y="0"/>
            <a:chExt cx="7766489" cy="6400893"/>
          </a:xfrm>
        </p:grpSpPr>
        <p:sp>
          <p:nvSpPr>
            <p:cNvPr id="746428797" name="Freeform 13"/>
            <p:cNvSpPr/>
            <p:nvPr/>
          </p:nvSpPr>
          <p:spPr bwMode="auto">
            <a:xfrm rot="0" flipH="0" flipV="0">
              <a:off x="0" y="0"/>
              <a:ext cx="7766489" cy="6400893"/>
            </a:xfrm>
            <a:custGeom>
              <a:avLst/>
              <a:gdLst/>
              <a:ahLst/>
              <a:cxnLst/>
              <a:rect l="l" t="t" r="r" b="b"/>
              <a:pathLst>
                <a:path w="2045495" h="868289" fill="norm" stroke="1" extrusionOk="0">
                  <a:moveTo>
                    <a:pt x="38877" y="0"/>
                  </a:moveTo>
                  <a:lnTo>
                    <a:pt x="2006619" y="0"/>
                  </a:lnTo>
                  <a:cubicBezTo>
                    <a:pt x="2016929" y="0"/>
                    <a:pt x="2026818" y="4096"/>
                    <a:pt x="2034109" y="11387"/>
                  </a:cubicBezTo>
                  <a:cubicBezTo>
                    <a:pt x="2041399" y="18677"/>
                    <a:pt x="2045495" y="28566"/>
                    <a:pt x="2045495" y="38877"/>
                  </a:cubicBezTo>
                  <a:lnTo>
                    <a:pt x="2045495" y="829412"/>
                  </a:lnTo>
                  <a:cubicBezTo>
                    <a:pt x="2045495" y="839723"/>
                    <a:pt x="2041399" y="849611"/>
                    <a:pt x="2034109" y="856902"/>
                  </a:cubicBezTo>
                  <a:cubicBezTo>
                    <a:pt x="2026818" y="864193"/>
                    <a:pt x="2016929" y="868289"/>
                    <a:pt x="2006619" y="868289"/>
                  </a:cubicBezTo>
                  <a:lnTo>
                    <a:pt x="38877" y="868289"/>
                  </a:lnTo>
                  <a:cubicBezTo>
                    <a:pt x="28566" y="868289"/>
                    <a:pt x="18677" y="864193"/>
                    <a:pt x="11387" y="856902"/>
                  </a:cubicBezTo>
                  <a:cubicBezTo>
                    <a:pt x="4096" y="849611"/>
                    <a:pt x="0" y="839723"/>
                    <a:pt x="0" y="829412"/>
                  </a:cubicBezTo>
                  <a:lnTo>
                    <a:pt x="0" y="38877"/>
                  </a:lnTo>
                  <a:cubicBezTo>
                    <a:pt x="0" y="28566"/>
                    <a:pt x="4096" y="18677"/>
                    <a:pt x="11387" y="11387"/>
                  </a:cubicBezTo>
                  <a:cubicBezTo>
                    <a:pt x="18677" y="4096"/>
                    <a:pt x="28566" y="0"/>
                    <a:pt x="38877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id="202360677" name="TextBox 14"/>
            <p:cNvSpPr txBox="1"/>
            <p:nvPr/>
          </p:nvSpPr>
          <p:spPr bwMode="auto">
            <a:xfrm>
              <a:off x="0" y="-491517"/>
              <a:ext cx="7766489" cy="6892410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3358"/>
                </a:lnSpc>
                <a:defRPr/>
              </a:pPr>
              <a:endParaRPr/>
            </a:p>
          </p:txBody>
        </p:sp>
      </p:grpSp>
      <p:sp>
        <p:nvSpPr>
          <p:cNvPr id="953270220" name="TextBox 17"/>
          <p:cNvSpPr txBox="1"/>
          <p:nvPr/>
        </p:nvSpPr>
        <p:spPr bwMode="auto">
          <a:xfrm rot="0" flipH="0" flipV="0">
            <a:off x="1940438" y="4612105"/>
            <a:ext cx="6761210" cy="2804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lang="es-ES"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 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 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capa superior</a:t>
            </a:r>
            <a:r>
              <a:rPr lang="es-ES" sz="3600" b="1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que gestiona pods.</a:t>
            </a:r>
            <a:endParaRPr sz="3600">
              <a:latin typeface="Calibri"/>
              <a:cs typeface="Calibri"/>
            </a:endParaRPr>
          </a:p>
          <a:p>
            <a:pPr algn="l">
              <a:lnSpc>
                <a:spcPts val="3358"/>
              </a:lnSpc>
              <a:defRPr/>
            </a:pP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Sirve para decir</a:t>
            </a:r>
            <a:r>
              <a:rPr lang="es-ES"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</a:t>
            </a:r>
            <a:endParaRPr lang="es-ES" sz="3600" b="0" i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82137" indent="-482137" algn="l">
              <a:lnSpc>
                <a:spcPts val="3358"/>
              </a:lnSpc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 nú</a:t>
            </a:r>
            <a:r>
              <a:rPr lang="es-ES"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mero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replicas</a:t>
            </a:r>
            <a:endParaRPr sz="3600" b="0" i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82137" indent="-482137" algn="l">
              <a:lnSpc>
                <a:spcPts val="3358"/>
              </a:lnSpc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que imagen usar </a:t>
            </a:r>
            <a:endParaRPr sz="3600" b="0" i="0" u="none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82137" indent="-482137" algn="l">
              <a:lnSpc>
                <a:spcPts val="3358"/>
              </a:lnSpc>
              <a:buFont typeface="Arial"/>
              <a:buChar char="•"/>
              <a:defRPr/>
            </a:pP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que hacer si un p</a:t>
            </a:r>
            <a:r>
              <a:rPr lang="es-ES"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</a:t>
            </a:r>
            <a:r>
              <a:rPr sz="3600" b="0" i="0" u="none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 falla</a:t>
            </a:r>
            <a:endParaRPr/>
          </a:p>
        </p:txBody>
      </p:sp>
      <p:sp>
        <p:nvSpPr>
          <p:cNvPr id="1401666717" name="TextBox 18"/>
          <p:cNvSpPr txBox="1"/>
          <p:nvPr/>
        </p:nvSpPr>
        <p:spPr bwMode="auto">
          <a:xfrm rot="0" flipH="0" flipV="0">
            <a:off x="9651490" y="4612105"/>
            <a:ext cx="6768410" cy="85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  <a:defRPr/>
            </a:pPr>
            <a:r>
              <a:rPr lang="es-ES" sz="3600">
                <a:solidFill>
                  <a:srgbClr val="000000"/>
                </a:solidFill>
                <a:latin typeface="Poppins"/>
                <a:ea typeface="Poppins"/>
                <a:cs typeface="Poppins"/>
              </a:rPr>
              <a:t>Es la forma de acceder a la aplicación</a:t>
            </a:r>
            <a:endParaRPr sz="3600"/>
          </a:p>
        </p:txBody>
      </p:sp>
      <p:sp>
        <p:nvSpPr>
          <p:cNvPr id="280067795" name="TextBox 21"/>
          <p:cNvSpPr txBox="1"/>
          <p:nvPr/>
        </p:nvSpPr>
        <p:spPr bwMode="auto">
          <a:xfrm rot="0">
            <a:off x="1854324" y="3429000"/>
            <a:ext cx="6617731" cy="793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48"/>
              </a:lnSpc>
              <a:spcBef>
                <a:spcPts val="0"/>
              </a:spcBef>
              <a:defRPr/>
            </a:pPr>
            <a:r>
              <a:rPr lang="es-ES" sz="48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Deployment:</a:t>
            </a:r>
            <a:endParaRPr/>
          </a:p>
        </p:txBody>
      </p:sp>
      <p:sp>
        <p:nvSpPr>
          <p:cNvPr id="1555538510" name="TextBox 22"/>
          <p:cNvSpPr txBox="1"/>
          <p:nvPr/>
        </p:nvSpPr>
        <p:spPr bwMode="auto">
          <a:xfrm rot="0">
            <a:off x="9651490" y="3429000"/>
            <a:ext cx="6618451" cy="793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48"/>
              </a:lnSpc>
              <a:spcBef>
                <a:spcPts val="0"/>
              </a:spcBef>
              <a:defRPr/>
            </a:pPr>
            <a:r>
              <a:rPr lang="es-ES" sz="48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Service: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D8F0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904" name="TextBox 2"/>
          <p:cNvSpPr txBox="1"/>
          <p:nvPr/>
        </p:nvSpPr>
        <p:spPr bwMode="auto">
          <a:xfrm rot="0" flipH="0" flipV="0">
            <a:off x="3409135" y="1879934"/>
            <a:ext cx="12065141" cy="877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r>
              <a:rPr lang="es-ES" sz="120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DEMO</a:t>
            </a: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</p:txBody>
      </p:sp>
      <p:sp>
        <p:nvSpPr>
          <p:cNvPr id="147973512" name="Freeform 4"/>
          <p:cNvSpPr/>
          <p:nvPr/>
        </p:nvSpPr>
        <p:spPr bwMode="auto">
          <a:xfrm rot="0" flipH="0" flipV="0">
            <a:off x="-564212" y="2480913"/>
            <a:ext cx="6823820" cy="7806087"/>
          </a:xfrm>
          <a:custGeom>
            <a:avLst/>
            <a:gdLst/>
            <a:ahLst/>
            <a:cxnLst/>
            <a:rect l="l" t="t" r="r" b="b"/>
            <a:pathLst>
              <a:path w="6823821" h="7806087" fill="norm" stroke="1" extrusionOk="0">
                <a:moveTo>
                  <a:pt x="0" y="0"/>
                </a:moveTo>
                <a:lnTo>
                  <a:pt x="6823821" y="0"/>
                </a:lnTo>
                <a:lnTo>
                  <a:pt x="6823821" y="7806087"/>
                </a:lnTo>
                <a:lnTo>
                  <a:pt x="0" y="7806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737677074" name="Freeform 5"/>
          <p:cNvSpPr/>
          <p:nvPr/>
        </p:nvSpPr>
        <p:spPr bwMode="auto">
          <a:xfrm rot="0" flipH="1" flipV="1">
            <a:off x="11943112" y="-75197"/>
            <a:ext cx="6754696" cy="7727013"/>
          </a:xfrm>
          <a:custGeom>
            <a:avLst/>
            <a:gdLst/>
            <a:ahLst/>
            <a:cxnLst/>
            <a:rect l="l" t="t" r="r" b="b"/>
            <a:pathLst>
              <a:path w="6754697" h="7727013" fill="norm" stroke="1" extrusionOk="0">
                <a:moveTo>
                  <a:pt x="6754698" y="7727013"/>
                </a:moveTo>
                <a:lnTo>
                  <a:pt x="0" y="7727013"/>
                </a:lnTo>
                <a:lnTo>
                  <a:pt x="0" y="0"/>
                </a:lnTo>
                <a:lnTo>
                  <a:pt x="6754698" y="0"/>
                </a:lnTo>
                <a:lnTo>
                  <a:pt x="6754698" y="7727013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58417172" name="Group 5"/>
          <p:cNvGrpSpPr/>
          <p:nvPr/>
        </p:nvGrpSpPr>
        <p:grpSpPr bwMode="auto">
          <a:xfrm rot="0" flipH="0" flipV="0">
            <a:off x="1377509" y="2807368"/>
            <a:ext cx="15532979" cy="4361447"/>
            <a:chOff x="0" y="0"/>
            <a:chExt cx="15532979" cy="4361447"/>
          </a:xfrm>
        </p:grpSpPr>
        <p:sp>
          <p:nvSpPr>
            <p:cNvPr id="1259876260" name="Freeform 6"/>
            <p:cNvSpPr/>
            <p:nvPr/>
          </p:nvSpPr>
          <p:spPr bwMode="auto">
            <a:xfrm rot="0" flipH="0" flipV="0">
              <a:off x="0" y="0"/>
              <a:ext cx="15532979" cy="4361447"/>
            </a:xfrm>
            <a:custGeom>
              <a:avLst/>
              <a:gdLst/>
              <a:ahLst/>
              <a:cxnLst/>
              <a:rect l="l" t="t" r="r" b="b"/>
              <a:pathLst>
                <a:path w="4090991" h="1232018" fill="norm" stroke="1" extrusionOk="0">
                  <a:moveTo>
                    <a:pt x="19438" y="0"/>
                  </a:moveTo>
                  <a:lnTo>
                    <a:pt x="4071552" y="0"/>
                  </a:lnTo>
                  <a:cubicBezTo>
                    <a:pt x="4082288" y="0"/>
                    <a:pt x="4090991" y="8703"/>
                    <a:pt x="4090991" y="19438"/>
                  </a:cubicBezTo>
                  <a:lnTo>
                    <a:pt x="4090991" y="1212580"/>
                  </a:lnTo>
                  <a:cubicBezTo>
                    <a:pt x="4090991" y="1223315"/>
                    <a:pt x="4082288" y="1232018"/>
                    <a:pt x="4071552" y="1232018"/>
                  </a:cubicBezTo>
                  <a:lnTo>
                    <a:pt x="19438" y="1232018"/>
                  </a:lnTo>
                  <a:cubicBezTo>
                    <a:pt x="8703" y="1232018"/>
                    <a:pt x="0" y="1223315"/>
                    <a:pt x="0" y="1212580"/>
                  </a:cubicBezTo>
                  <a:lnTo>
                    <a:pt x="0" y="19438"/>
                  </a:lnTo>
                  <a:cubicBezTo>
                    <a:pt x="0" y="8703"/>
                    <a:pt x="8703" y="0"/>
                    <a:pt x="19438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id="668794262" name="TextBox 7"/>
            <p:cNvSpPr txBox="1"/>
            <p:nvPr/>
          </p:nvSpPr>
          <p:spPr bwMode="auto">
            <a:xfrm>
              <a:off x="0" y="-236035"/>
              <a:ext cx="15532979" cy="4597482"/>
            </a:xfrm>
            <a:prstGeom prst="rect">
              <a:avLst/>
            </a:prstGeom>
            <a:grpFill/>
          </p:spPr>
          <p:txBody>
            <a:bodyPr lIns="50799" tIns="50799" rIns="50799" bIns="50799" rtlCol="0" anchor="ctr"/>
            <a:lstStyle/>
            <a:p>
              <a:pPr algn="ctr">
                <a:lnSpc>
                  <a:spcPts val="3358"/>
                </a:lnSpc>
                <a:defRPr/>
              </a:pPr>
              <a:endParaRPr/>
            </a:p>
          </p:txBody>
        </p:sp>
      </p:grpSp>
      <p:sp>
        <p:nvSpPr>
          <p:cNvPr id="1888013411" name="TextBox 8"/>
          <p:cNvSpPr txBox="1"/>
          <p:nvPr/>
        </p:nvSpPr>
        <p:spPr bwMode="auto">
          <a:xfrm rot="0">
            <a:off x="1531455" y="1038224"/>
            <a:ext cx="15229047" cy="87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r>
              <a:rPr lang="es-ES" sz="64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Enunciado</a:t>
            </a:r>
            <a:endParaRPr/>
          </a:p>
        </p:txBody>
      </p:sp>
      <p:sp>
        <p:nvSpPr>
          <p:cNvPr id="290042882" name="TextBox 10"/>
          <p:cNvSpPr txBox="1"/>
          <p:nvPr/>
        </p:nvSpPr>
        <p:spPr bwMode="auto">
          <a:xfrm rot="0" flipH="0" flipV="0">
            <a:off x="2108091" y="3210955"/>
            <a:ext cx="14247088" cy="5278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2137" indent="-482137" algn="l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Crear clúster de dos nodos (1 master/worker + 1 worker)</a:t>
            </a:r>
            <a:endParaRPr sz="3600" b="0" i="0" u="none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482137" indent="-482137" algn="l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añadir un tercer nodo (1 master/worker + 2 workers)</a:t>
            </a:r>
            <a:endParaRPr sz="10000"/>
          </a:p>
          <a:p>
            <a:pPr marL="482137" indent="-482137" algn="l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Desplegar una aplicación </a:t>
            </a:r>
            <a:endParaRPr sz="10000"/>
          </a:p>
          <a:p>
            <a:pPr marL="482137" indent="-482137" algn="l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Comprobar el estado del despliegue </a:t>
            </a:r>
            <a:endParaRPr sz="10000"/>
          </a:p>
          <a:p>
            <a:pPr marL="482137" indent="-482137" algn="l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Explicar como acceder al servicio </a:t>
            </a:r>
            <a:endParaRPr sz="3600" b="0" i="0" u="none">
              <a:solidFill>
                <a:srgbClr val="000000"/>
              </a:solidFill>
              <a:latin typeface="Segoe UI"/>
              <a:ea typeface="Segoe UI"/>
              <a:cs typeface="Segoe UI"/>
            </a:endParaRPr>
          </a:p>
          <a:p>
            <a:pPr marL="482137" indent="-482137" algn="l">
              <a:buAutoNum type="arabicPeriod"/>
              <a:defRPr/>
            </a:pPr>
            <a: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  <a:t>Eliminar el despliegue</a:t>
            </a:r>
            <a:br>
              <a:rPr sz="3600" b="0" i="0" u="none">
                <a:solidFill>
                  <a:srgbClr val="000000"/>
                </a:solidFill>
                <a:latin typeface="Segoe UI"/>
                <a:ea typeface="Segoe UI"/>
                <a:cs typeface="Segoe UI"/>
              </a:rPr>
            </a:br>
            <a:endParaRPr sz="10000"/>
          </a:p>
          <a:p>
            <a:pPr marL="561333" lvl="1" indent="-280666" algn="l">
              <a:lnSpc>
                <a:spcPts val="3638"/>
              </a:lnSpc>
              <a:buFont typeface="Arial"/>
              <a:buChar char="•"/>
              <a:defRPr/>
            </a:pPr>
            <a:endParaRPr/>
          </a:p>
        </p:txBody>
      </p:sp>
      <p:pic>
        <p:nvPicPr>
          <p:cNvPr id="919749575" name="Picture 2" descr="Load balancer en Kubernetes | OVHcloud España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239933" y="5850131"/>
            <a:ext cx="4004069" cy="400406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D8F0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133105" name="Freeform 4"/>
          <p:cNvSpPr/>
          <p:nvPr/>
        </p:nvSpPr>
        <p:spPr bwMode="auto">
          <a:xfrm rot="0" flipH="0" flipV="0">
            <a:off x="-564212" y="2480913"/>
            <a:ext cx="6823820" cy="7806087"/>
          </a:xfrm>
          <a:custGeom>
            <a:avLst/>
            <a:gdLst/>
            <a:ahLst/>
            <a:cxnLst/>
            <a:rect l="l" t="t" r="r" b="b"/>
            <a:pathLst>
              <a:path w="6823821" h="7806087" fill="norm" stroke="1" extrusionOk="0">
                <a:moveTo>
                  <a:pt x="0" y="0"/>
                </a:moveTo>
                <a:lnTo>
                  <a:pt x="6823821" y="0"/>
                </a:lnTo>
                <a:lnTo>
                  <a:pt x="6823821" y="7806087"/>
                </a:lnTo>
                <a:lnTo>
                  <a:pt x="0" y="7806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825252553" name="Freeform 5"/>
          <p:cNvSpPr/>
          <p:nvPr/>
        </p:nvSpPr>
        <p:spPr bwMode="auto">
          <a:xfrm rot="0" flipH="1" flipV="1">
            <a:off x="11943112" y="-75197"/>
            <a:ext cx="6754696" cy="7727013"/>
          </a:xfrm>
          <a:custGeom>
            <a:avLst/>
            <a:gdLst/>
            <a:ahLst/>
            <a:cxnLst/>
            <a:rect l="l" t="t" r="r" b="b"/>
            <a:pathLst>
              <a:path w="6754697" h="7727013" fill="norm" stroke="1" extrusionOk="0">
                <a:moveTo>
                  <a:pt x="6754698" y="7727013"/>
                </a:moveTo>
                <a:lnTo>
                  <a:pt x="0" y="7727013"/>
                </a:lnTo>
                <a:lnTo>
                  <a:pt x="0" y="0"/>
                </a:lnTo>
                <a:lnTo>
                  <a:pt x="6754698" y="0"/>
                </a:lnTo>
                <a:lnTo>
                  <a:pt x="6754698" y="7727013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93799747" name="TextBox 2"/>
          <p:cNvSpPr txBox="1"/>
          <p:nvPr/>
        </p:nvSpPr>
        <p:spPr bwMode="auto">
          <a:xfrm rot="0" flipH="0" flipV="0">
            <a:off x="3384070" y="3429000"/>
            <a:ext cx="12148076" cy="526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r>
              <a:rPr lang="es-ES" sz="120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CONCLUSIÓN</a:t>
            </a: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73172056" name="Group 2"/>
          <p:cNvGrpSpPr/>
          <p:nvPr/>
        </p:nvGrpSpPr>
        <p:grpSpPr bwMode="auto">
          <a:xfrm rot="0">
            <a:off x="13550832" y="-781343"/>
            <a:ext cx="5941360" cy="11839950"/>
            <a:chOff x="0" y="0"/>
            <a:chExt cx="1564803" cy="3118341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1564803" cy="3118341"/>
            </a:xfrm>
            <a:custGeom>
              <a:avLst/>
              <a:gdLst/>
              <a:ahLst/>
              <a:cxnLst/>
              <a:rect l="l" t="t" r="r" b="b"/>
              <a:pathLst>
                <a:path w="1564803" h="3118341" fill="norm" stroke="1" extrusionOk="0">
                  <a:moveTo>
                    <a:pt x="66456" y="0"/>
                  </a:moveTo>
                  <a:lnTo>
                    <a:pt x="1498347" y="0"/>
                  </a:lnTo>
                  <a:cubicBezTo>
                    <a:pt x="1535049" y="0"/>
                    <a:pt x="1564803" y="29753"/>
                    <a:pt x="1564803" y="66456"/>
                  </a:cubicBezTo>
                  <a:lnTo>
                    <a:pt x="1564803" y="3051885"/>
                  </a:lnTo>
                  <a:cubicBezTo>
                    <a:pt x="1564803" y="3088587"/>
                    <a:pt x="1535049" y="3118341"/>
                    <a:pt x="1498347" y="3118341"/>
                  </a:cubicBezTo>
                  <a:lnTo>
                    <a:pt x="66456" y="3118341"/>
                  </a:lnTo>
                  <a:cubicBezTo>
                    <a:pt x="29753" y="3118341"/>
                    <a:pt x="0" y="3088587"/>
                    <a:pt x="0" y="3051885"/>
                  </a:cubicBezTo>
                  <a:lnTo>
                    <a:pt x="0" y="66456"/>
                  </a:lnTo>
                  <a:cubicBezTo>
                    <a:pt x="0" y="29753"/>
                    <a:pt x="29753" y="0"/>
                    <a:pt x="66456" y="0"/>
                  </a:cubicBezTo>
                  <a:close/>
                </a:path>
              </a:pathLst>
            </a:custGeom>
            <a:solidFill>
              <a:srgbClr val="D8F0FC"/>
            </a:solidFill>
          </p:spPr>
        </p:sp>
        <p:sp>
          <p:nvSpPr>
            <p:cNvPr id="4" name="TextBox 4"/>
            <p:cNvSpPr txBox="1"/>
            <p:nvPr/>
          </p:nvSpPr>
          <p:spPr bwMode="auto">
            <a:xfrm>
              <a:off x="0" y="-66675"/>
              <a:ext cx="1564803" cy="31850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  <a:defRPr/>
              </a:pPr>
              <a:endParaRPr/>
            </a:p>
          </p:txBody>
        </p:sp>
      </p:grpSp>
      <p:sp>
        <p:nvSpPr>
          <p:cNvPr id="517496093" name="TextBox 7"/>
          <p:cNvSpPr txBox="1"/>
          <p:nvPr/>
        </p:nvSpPr>
        <p:spPr bwMode="auto">
          <a:xfrm rot="0" flipH="0" flipV="0">
            <a:off x="1446823" y="1303421"/>
            <a:ext cx="7923565" cy="878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11"/>
              </a:lnSpc>
              <a:spcBef>
                <a:spcPts val="0"/>
              </a:spcBef>
              <a:defRPr/>
            </a:pPr>
            <a:r>
              <a:rPr lang="en-US" sz="72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C</a:t>
            </a:r>
            <a:r>
              <a:rPr lang="en-US" sz="72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o</a:t>
            </a:r>
            <a:r>
              <a:rPr lang="es-ES" sz="72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nclusi</a:t>
            </a:r>
            <a:r>
              <a:rPr lang="en-US" sz="72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ón</a:t>
            </a:r>
            <a:endParaRPr/>
          </a:p>
        </p:txBody>
      </p:sp>
      <p:sp>
        <p:nvSpPr>
          <p:cNvPr id="312750017" name="TextBox 8"/>
          <p:cNvSpPr txBox="1"/>
          <p:nvPr/>
        </p:nvSpPr>
        <p:spPr bwMode="auto">
          <a:xfrm rot="0" flipH="0" flipV="0">
            <a:off x="779605" y="2982828"/>
            <a:ext cx="9853374" cy="6278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>
              <a:defRPr/>
            </a:pPr>
            <a:r>
              <a:rPr lang="es-ES" sz="3600" b="0" i="0" u="none" strike="noStrike" cap="none" spc="0">
                <a:solidFill>
                  <a:schemeClr val="tx1"/>
                </a:solidFill>
                <a:latin typeface="Lato"/>
                <a:ea typeface="Lato"/>
                <a:cs typeface="Lato"/>
              </a:rPr>
              <a:t>Kubernetes</a:t>
            </a:r>
            <a:r>
              <a:rPr lang="es-ES" sz="3600" b="0" i="0" u="none" strike="noStrike" cap="none" spc="0">
                <a:solidFill>
                  <a:schemeClr val="tx1"/>
                </a:solidFill>
                <a:latin typeface="Lato"/>
                <a:ea typeface="Lato"/>
                <a:cs typeface="Lato"/>
              </a:rPr>
              <a:t> se ha convertido en una herramienta esencial para empresas que desean gestionar aplicaciones y servicios en contenedores de manera eficiente, escalable y automatizada. </a:t>
            </a:r>
            <a:endParaRPr lang="en-US" sz="36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defRPr/>
            </a:pPr>
            <a:endParaRPr sz="3600"/>
          </a:p>
          <a:p>
            <a:pPr algn="l">
              <a:lnSpc>
                <a:spcPts val="3919"/>
              </a:lnSpc>
              <a:spcBef>
                <a:spcPts val="0"/>
              </a:spcBef>
              <a:defRPr/>
            </a:pPr>
            <a:r>
              <a:rPr lang="es-ES" sz="3600" b="0" i="0" u="none" strike="noStrike" cap="none" spc="0">
                <a:solidFill>
                  <a:schemeClr val="tx1"/>
                </a:solidFill>
                <a:latin typeface="Lato"/>
                <a:ea typeface="Lato"/>
                <a:cs typeface="Lato"/>
              </a:rPr>
              <a:t>Sus características de orquestación, escalabilidad automática y alta disponibilidad lo convierten en una solución muy popular en entornos de microservicios, lo que facilita una gestión más eficiente y flexible de infraestructuras complejas y distribuidas.</a:t>
            </a:r>
            <a:endParaRPr/>
          </a:p>
        </p:txBody>
      </p:sp>
      <p:pic>
        <p:nvPicPr>
          <p:cNvPr id="459738484" name="Picture 2" descr="Load balancer en Kubernetes | OVHcloud España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235865" y="2398880"/>
            <a:ext cx="6661041" cy="6661041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D8F0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837277" name="TextBox 2"/>
          <p:cNvSpPr txBox="1"/>
          <p:nvPr/>
        </p:nvSpPr>
        <p:spPr bwMode="auto">
          <a:xfrm rot="0">
            <a:off x="3409135" y="3429000"/>
            <a:ext cx="12150956" cy="4388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r>
              <a:rPr lang="es-ES" sz="120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BIBLIOGRAFÍA</a:t>
            </a: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</p:txBody>
      </p:sp>
      <p:sp>
        <p:nvSpPr>
          <p:cNvPr id="36295805" name="Freeform 4"/>
          <p:cNvSpPr/>
          <p:nvPr/>
        </p:nvSpPr>
        <p:spPr bwMode="auto">
          <a:xfrm rot="0" flipH="0" flipV="0">
            <a:off x="-564212" y="2480913"/>
            <a:ext cx="6823820" cy="7806087"/>
          </a:xfrm>
          <a:custGeom>
            <a:avLst/>
            <a:gdLst/>
            <a:ahLst/>
            <a:cxnLst/>
            <a:rect l="l" t="t" r="r" b="b"/>
            <a:pathLst>
              <a:path w="6823821" h="7806087" fill="norm" stroke="1" extrusionOk="0">
                <a:moveTo>
                  <a:pt x="0" y="0"/>
                </a:moveTo>
                <a:lnTo>
                  <a:pt x="6823821" y="0"/>
                </a:lnTo>
                <a:lnTo>
                  <a:pt x="6823821" y="7806087"/>
                </a:lnTo>
                <a:lnTo>
                  <a:pt x="0" y="7806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788819861" name="Freeform 5"/>
          <p:cNvSpPr/>
          <p:nvPr/>
        </p:nvSpPr>
        <p:spPr bwMode="auto">
          <a:xfrm rot="0" flipH="1" flipV="1">
            <a:off x="11943112" y="-75197"/>
            <a:ext cx="6754696" cy="7727013"/>
          </a:xfrm>
          <a:custGeom>
            <a:avLst/>
            <a:gdLst/>
            <a:ahLst/>
            <a:cxnLst/>
            <a:rect l="l" t="t" r="r" b="b"/>
            <a:pathLst>
              <a:path w="6754697" h="7727013" fill="norm" stroke="1" extrusionOk="0">
                <a:moveTo>
                  <a:pt x="6754698" y="7727013"/>
                </a:moveTo>
                <a:lnTo>
                  <a:pt x="0" y="7727013"/>
                </a:lnTo>
                <a:lnTo>
                  <a:pt x="0" y="0"/>
                </a:lnTo>
                <a:lnTo>
                  <a:pt x="6754698" y="0"/>
                </a:lnTo>
                <a:lnTo>
                  <a:pt x="6754698" y="7727013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69111" name="Freeform 3"/>
          <p:cNvSpPr/>
          <p:nvPr/>
        </p:nvSpPr>
        <p:spPr bwMode="auto">
          <a:xfrm rot="-5400000" flipH="0" flipV="0">
            <a:off x="7343194" y="4073949"/>
            <a:ext cx="18647288" cy="5011458"/>
          </a:xfrm>
          <a:custGeom>
            <a:avLst/>
            <a:gdLst/>
            <a:ahLst/>
            <a:cxnLst/>
            <a:rect l="l" t="t" r="r" b="b"/>
            <a:pathLst>
              <a:path w="18647289" h="5011459" fill="norm" stroke="1" extrusionOk="0">
                <a:moveTo>
                  <a:pt x="0" y="0"/>
                </a:moveTo>
                <a:lnTo>
                  <a:pt x="18647289" y="0"/>
                </a:lnTo>
                <a:lnTo>
                  <a:pt x="18647289" y="5011459"/>
                </a:lnTo>
                <a:lnTo>
                  <a:pt x="0" y="50114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05154413" name="Freeform 4"/>
          <p:cNvSpPr/>
          <p:nvPr/>
        </p:nvSpPr>
        <p:spPr bwMode="auto">
          <a:xfrm rot="-5400000" flipH="0" flipV="1">
            <a:off x="-7962511" y="4073949"/>
            <a:ext cx="18647288" cy="5011458"/>
          </a:xfrm>
          <a:custGeom>
            <a:avLst/>
            <a:gdLst/>
            <a:ahLst/>
            <a:cxnLst/>
            <a:rect l="l" t="t" r="r" b="b"/>
            <a:pathLst>
              <a:path w="18647289" h="5011459" fill="norm" stroke="1" extrusionOk="0">
                <a:moveTo>
                  <a:pt x="0" y="5011459"/>
                </a:moveTo>
                <a:lnTo>
                  <a:pt x="18647289" y="5011459"/>
                </a:lnTo>
                <a:lnTo>
                  <a:pt x="18647289" y="0"/>
                </a:lnTo>
                <a:lnTo>
                  <a:pt x="0" y="0"/>
                </a:lnTo>
                <a:lnTo>
                  <a:pt x="0" y="5011459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1395524710" name="TextBox 5"/>
          <p:cNvSpPr txBox="1"/>
          <p:nvPr/>
        </p:nvSpPr>
        <p:spPr bwMode="auto">
          <a:xfrm rot="0" flipH="0" flipV="0">
            <a:off x="3204161" y="3171126"/>
            <a:ext cx="9784280" cy="4977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8"/>
              </a:lnSpc>
              <a:spcBef>
                <a:spcPts val="0"/>
              </a:spcBef>
              <a:defRPr/>
            </a:pPr>
            <a:r>
              <a:rPr lang="en-US" sz="36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4" tooltip=""/>
              </a:rPr>
              <a:t>https://www.youtube.com/watch?v=2Hftl7VS8PU</a:t>
            </a:r>
            <a:endParaRPr sz="2000"/>
          </a:p>
          <a:p>
            <a:pPr algn="l">
              <a:lnSpc>
                <a:spcPts val="3918"/>
              </a:lnSpc>
              <a:spcBef>
                <a:spcPts val="0"/>
              </a:spcBef>
              <a:defRPr/>
            </a:pPr>
            <a:endParaRPr sz="2000"/>
          </a:p>
          <a:p>
            <a:pPr algn="l">
              <a:lnSpc>
                <a:spcPts val="3918"/>
              </a:lnSpc>
              <a:spcBef>
                <a:spcPts val="0"/>
              </a:spcBef>
              <a:defRPr/>
            </a:pPr>
            <a:endParaRPr/>
          </a:p>
          <a:p>
            <a:pPr algn="l">
              <a:lnSpc>
                <a:spcPts val="3918"/>
              </a:lnSpc>
              <a:spcBef>
                <a:spcPts val="0"/>
              </a:spcBef>
              <a:defRPr/>
            </a:pPr>
            <a:r>
              <a:rPr lang="en-US" sz="36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5" tooltip=""/>
              </a:rPr>
              <a:t>https://www.youtube.com/watch?v=i-cvhgyXi5A</a:t>
            </a:r>
            <a:endParaRPr/>
          </a:p>
          <a:p>
            <a:pPr algn="l">
              <a:lnSpc>
                <a:spcPts val="3918"/>
              </a:lnSpc>
              <a:spcBef>
                <a:spcPts val="0"/>
              </a:spcBef>
              <a:defRPr/>
            </a:pPr>
            <a:endParaRPr sz="2000"/>
          </a:p>
          <a:p>
            <a:pPr algn="l">
              <a:lnSpc>
                <a:spcPts val="3918"/>
              </a:lnSpc>
              <a:spcBef>
                <a:spcPts val="0"/>
              </a:spcBef>
              <a:defRPr/>
            </a:pPr>
            <a:endParaRPr sz="2000"/>
          </a:p>
          <a:p>
            <a:pPr algn="l">
              <a:lnSpc>
                <a:spcPts val="3918"/>
              </a:lnSpc>
              <a:spcBef>
                <a:spcPts val="0"/>
              </a:spcBef>
              <a:defRPr/>
            </a:pPr>
            <a:r>
              <a:rPr lang="en-US" sz="3600" b="0" i="0" u="sng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  <a:hlinkClick r:id="rId6" tooltip=""/>
              </a:rPr>
              <a:t>https://ualmtorres.github.io/Kubernetes101/</a:t>
            </a:r>
            <a:endParaRPr/>
          </a:p>
          <a:p>
            <a:pPr algn="l">
              <a:lnSpc>
                <a:spcPts val="3918"/>
              </a:lnSpc>
              <a:spcBef>
                <a:spcPts val="0"/>
              </a:spcBef>
              <a:defRPr/>
            </a:pPr>
            <a:endParaRPr sz="3600"/>
          </a:p>
          <a:p>
            <a:pPr algn="l">
              <a:lnSpc>
                <a:spcPts val="3918"/>
              </a:lnSpc>
              <a:spcBef>
                <a:spcPts val="0"/>
              </a:spcBef>
              <a:defRPr/>
            </a:pPr>
            <a:endParaRPr sz="2000"/>
          </a:p>
          <a:p>
            <a:pPr algn="l">
              <a:lnSpc>
                <a:spcPts val="3918"/>
              </a:lnSpc>
              <a:spcBef>
                <a:spcPts val="0"/>
              </a:spcBef>
              <a:defRPr/>
            </a:pPr>
            <a:r>
              <a:rPr lang="en-US" sz="36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https://kubernetes.io/es/docs/home/</a:t>
            </a:r>
            <a:endParaRPr/>
          </a:p>
        </p:txBody>
      </p:sp>
      <p:sp>
        <p:nvSpPr>
          <p:cNvPr id="1320653321" name="TextBox 6"/>
          <p:cNvSpPr txBox="1"/>
          <p:nvPr/>
        </p:nvSpPr>
        <p:spPr bwMode="auto">
          <a:xfrm rot="0">
            <a:off x="3204161" y="1945103"/>
            <a:ext cx="8574290" cy="756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50"/>
              </a:lnSpc>
              <a:defRPr/>
            </a:pPr>
            <a:r>
              <a:rPr lang="es-ES" sz="6400" b="1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Bibliografía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D8F0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110045" name="TextBox 2"/>
          <p:cNvSpPr txBox="1"/>
          <p:nvPr/>
        </p:nvSpPr>
        <p:spPr bwMode="auto">
          <a:xfrm rot="0">
            <a:off x="2983017" y="3125961"/>
            <a:ext cx="12149876" cy="5266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r>
              <a:rPr lang="es-ES" sz="12000" b="1" u="none" strike="noStrike">
                <a:solidFill>
                  <a:srgbClr val="000000"/>
                </a:solidFill>
                <a:latin typeface="Poppins Bold"/>
                <a:ea typeface="Poppins Bold"/>
                <a:cs typeface="Poppins Bold"/>
              </a:rPr>
              <a:t>¿PREGUNTAS?</a:t>
            </a:r>
            <a:endParaRPr lang="es-ES" sz="12000" b="1" u="none" strike="noStrike">
              <a:solidFill>
                <a:srgbClr val="000000"/>
              </a:solidFill>
              <a:latin typeface="Poppins Bold"/>
              <a:ea typeface="Poppins Bold"/>
              <a:cs typeface="Poppins Bold"/>
            </a:endParaRPr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  <a:p>
            <a:pPr marL="0" lvl="0" indent="0" algn="ctr">
              <a:lnSpc>
                <a:spcPts val="6910"/>
              </a:lnSpc>
              <a:spcBef>
                <a:spcPts val="0"/>
              </a:spcBef>
              <a:defRPr/>
            </a:pPr>
            <a:endParaRPr sz="3600"/>
          </a:p>
        </p:txBody>
      </p:sp>
      <p:sp>
        <p:nvSpPr>
          <p:cNvPr id="1506170221" name="Freeform 4"/>
          <p:cNvSpPr/>
          <p:nvPr/>
        </p:nvSpPr>
        <p:spPr bwMode="auto">
          <a:xfrm rot="0" flipH="0" flipV="0">
            <a:off x="-564212" y="2480913"/>
            <a:ext cx="6823820" cy="7806087"/>
          </a:xfrm>
          <a:custGeom>
            <a:avLst/>
            <a:gdLst/>
            <a:ahLst/>
            <a:cxnLst/>
            <a:rect l="l" t="t" r="r" b="b"/>
            <a:pathLst>
              <a:path w="6823821" h="7806087" fill="norm" stroke="1" extrusionOk="0">
                <a:moveTo>
                  <a:pt x="0" y="0"/>
                </a:moveTo>
                <a:lnTo>
                  <a:pt x="6823821" y="0"/>
                </a:lnTo>
                <a:lnTo>
                  <a:pt x="6823821" y="7806087"/>
                </a:lnTo>
                <a:lnTo>
                  <a:pt x="0" y="78060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  <p:sp>
        <p:nvSpPr>
          <p:cNvPr id="381614963" name="Freeform 5"/>
          <p:cNvSpPr/>
          <p:nvPr/>
        </p:nvSpPr>
        <p:spPr bwMode="auto">
          <a:xfrm rot="0" flipH="1" flipV="1">
            <a:off x="11943112" y="-75197"/>
            <a:ext cx="6754696" cy="7727013"/>
          </a:xfrm>
          <a:custGeom>
            <a:avLst/>
            <a:gdLst/>
            <a:ahLst/>
            <a:cxnLst/>
            <a:rect l="l" t="t" r="r" b="b"/>
            <a:pathLst>
              <a:path w="6754697" h="7727013" fill="norm" stroke="1" extrusionOk="0">
                <a:moveTo>
                  <a:pt x="6754698" y="7727013"/>
                </a:moveTo>
                <a:lnTo>
                  <a:pt x="0" y="7727013"/>
                </a:lnTo>
                <a:lnTo>
                  <a:pt x="0" y="0"/>
                </a:lnTo>
                <a:lnTo>
                  <a:pt x="6754698" y="0"/>
                </a:lnTo>
                <a:lnTo>
                  <a:pt x="6754698" y="7727013"/>
                </a:lnTo>
                <a:close/>
              </a:path>
            </a:pathLst>
          </a:custGeom>
          <a:blipFill rotWithShape="1"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Universidad Tesis Psicología Minimalista Formal Azul y Blanco</dc:title>
  <dc:identifier>DAHDAQRrRQQ</dc:identifier>
  <cp:lastModifiedBy/>
  <cp:revision>5</cp:revision>
  <dcterms:created xsi:type="dcterms:W3CDTF">2006-08-16T00:00:00Z</dcterms:created>
  <dcterms:modified xsi:type="dcterms:W3CDTF">2026-03-09T19:17:38Z</dcterms:modified>
</cp:coreProperties>
</file>